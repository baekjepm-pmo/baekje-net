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56" r:id="rId2"/>
    <p:sldId id="258" r:id="rId3"/>
    <p:sldId id="259" r:id="rId4"/>
    <p:sldId id="257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0" r:id="rId13"/>
    <p:sldId id="267" r:id="rId14"/>
    <p:sldId id="268" r:id="rId15"/>
    <p:sldId id="269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메인 페이지" id="{E4376FD8-FC96-484F-A3C3-6479B0DE8FAB}">
          <p14:sldIdLst>
            <p14:sldId id="256"/>
            <p14:sldId id="258"/>
            <p14:sldId id="259"/>
            <p14:sldId id="257"/>
            <p14:sldId id="260"/>
            <p14:sldId id="261"/>
            <p14:sldId id="262"/>
            <p14:sldId id="263"/>
            <p14:sldId id="264"/>
            <p14:sldId id="265"/>
            <p14:sldId id="266"/>
            <p14:sldId id="270"/>
          </p14:sldIdLst>
        </p14:section>
        <p14:section name="회사개요" id="{8160EDD1-E713-493F-AD80-742F5AF0C9C5}">
          <p14:sldIdLst>
            <p14:sldId id="267"/>
            <p14:sldId id="268"/>
            <p14:sldId id="269"/>
            <p14:sldId id="271"/>
            <p14:sldId id="272"/>
          </p14:sldIdLst>
        </p14:section>
        <p14:section name="비전" id="{A5C72ECD-63F5-4E06-81ED-6CDD00BCB63F}">
          <p14:sldIdLst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연혁" id="{FC84226D-3258-4D4F-BD3E-9975364DCFF2}">
          <p14:sldIdLst>
            <p14:sldId id="279"/>
            <p14:sldId id="280"/>
            <p14:sldId id="281"/>
            <p14:sldId id="282"/>
          </p14:sldIdLst>
        </p14:section>
        <p14:section name="그룹사 소개" id="{AE808DF6-A471-47B1-B598-394CC4A4115E}">
          <p14:sldIdLst>
            <p14:sldId id="283"/>
          </p14:sldIdLst>
        </p14:section>
        <p14:section name="전국 네트워크" id="{C077BF51-6869-4891-9BA4-D7653B2E10DF}">
          <p14:sldIdLst>
            <p14:sldId id="284"/>
            <p14:sldId id="285"/>
            <p14:sldId id="286"/>
          </p14:sldIdLst>
        </p14:section>
        <p14:section name="물류 서비스" id="{30D81582-DAB6-4580-B831-C343C5EF6EB5}">
          <p14:sldIdLst>
            <p14:sldId id="287"/>
            <p14:sldId id="288"/>
            <p14:sldId id="289"/>
            <p14:sldId id="290"/>
            <p14:sldId id="291"/>
          </p14:sldIdLst>
        </p14:section>
        <p14:section name="Contact" id="{100B7D9A-CE29-48E1-BFDE-AA17365E9612}">
          <p14:sldIdLst>
            <p14:sldId id="29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3051"/>
    <a:srgbClr val="2052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6" autoAdjust="0"/>
    <p:restoredTop sz="86165" autoAdjust="0"/>
  </p:normalViewPr>
  <p:slideViewPr>
    <p:cSldViewPr snapToGrid="0">
      <p:cViewPr varScale="1">
        <p:scale>
          <a:sx n="97" d="100"/>
          <a:sy n="97" d="100"/>
        </p:scale>
        <p:origin x="92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8731AD-086E-4534-9D41-0EA775503D96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FA1F0B-80AF-4A62-9090-6C032A834D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25440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https://trading.samsungcnt.com/main.do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FA1F0B-80AF-4A62-9090-6C032A834D7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14582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FA1F0B-80AF-4A62-9090-6C032A834D7B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55661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FA1F0B-80AF-4A62-9090-6C032A834D7B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18444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FA1F0B-80AF-4A62-9090-6C032A834D7B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69503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FA1F0B-80AF-4A62-9090-6C032A834D7B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70534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FA1F0B-80AF-4A62-9090-6C032A834D7B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01754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FA1F0B-80AF-4A62-9090-6C032A834D7B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60770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FA1F0B-80AF-4A62-9090-6C032A834D7B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25777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FA1F0B-80AF-4A62-9090-6C032A834D7B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15902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FA1F0B-80AF-4A62-9090-6C032A834D7B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89679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FA1F0B-80AF-4A62-9090-6C032A834D7B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3593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FA1F0B-80AF-4A62-9090-6C032A834D7B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33123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FA1F0B-80AF-4A62-9090-6C032A834D7B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78579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FA1F0B-80AF-4A62-9090-6C032A834D7B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30491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FA1F0B-80AF-4A62-9090-6C032A834D7B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13290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FA1F0B-80AF-4A62-9090-6C032A834D7B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26014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FA1F0B-80AF-4A62-9090-6C032A834D7B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1649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FA1F0B-80AF-4A62-9090-6C032A834D7B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01561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FA1F0B-80AF-4A62-9090-6C032A834D7B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17593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FA1F0B-80AF-4A62-9090-6C032A834D7B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88566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FA1F0B-80AF-4A62-9090-6C032A834D7B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001169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FA1F0B-80AF-4A62-9090-6C032A834D7B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40693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FA1F0B-80AF-4A62-9090-6C032A834D7B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08756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FA1F0B-80AF-4A62-9090-6C032A834D7B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586545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FA1F0B-80AF-4A62-9090-6C032A834D7B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43845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FA1F0B-80AF-4A62-9090-6C032A834D7B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799034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FA1F0B-80AF-4A62-9090-6C032A834D7B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982405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FA1F0B-80AF-4A62-9090-6C032A834D7B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731348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FA1F0B-80AF-4A62-9090-6C032A834D7B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304167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FA1F0B-80AF-4A62-9090-6C032A834D7B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949187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FA1F0B-80AF-4A62-9090-6C032A834D7B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391888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FA1F0B-80AF-4A62-9090-6C032A834D7B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398387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FA1F0B-80AF-4A62-9090-6C032A834D7B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9392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E9244-511C-4889-A9FF-D9246CA13D21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DF98A-7FA0-40FB-B091-752B18B3BA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5029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E9244-511C-4889-A9FF-D9246CA13D21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DF98A-7FA0-40FB-B091-752B18B3BA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952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E9244-511C-4889-A9FF-D9246CA13D21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DF98A-7FA0-40FB-B091-752B18B3BA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1398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E9244-511C-4889-A9FF-D9246CA13D21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DF98A-7FA0-40FB-B091-752B18B3BA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4707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E9244-511C-4889-A9FF-D9246CA13D21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DF98A-7FA0-40FB-B091-752B18B3BA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7112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E9244-511C-4889-A9FF-D9246CA13D21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DF98A-7FA0-40FB-B091-752B18B3BA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0045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E9244-511C-4889-A9FF-D9246CA13D21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DF98A-7FA0-40FB-B091-752B18B3BA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7564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E9244-511C-4889-A9FF-D9246CA13D21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DF98A-7FA0-40FB-B091-752B18B3BA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0795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E9244-511C-4889-A9FF-D9246CA13D21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DF98A-7FA0-40FB-B091-752B18B3BA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1863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E9244-511C-4889-A9FF-D9246CA13D21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DF98A-7FA0-40FB-B091-752B18B3BA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4806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E9244-511C-4889-A9FF-D9246CA13D21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DF98A-7FA0-40FB-B091-752B18B3BA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0231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5E9244-511C-4889-A9FF-D9246CA13D21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2DF98A-7FA0-40FB-B091-752B18B3BA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5553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mailto:yh.seo@baekje.net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모서리가 둥근 직사각형 12"/>
          <p:cNvSpPr/>
          <p:nvPr/>
        </p:nvSpPr>
        <p:spPr>
          <a:xfrm>
            <a:off x="190500" y="601981"/>
            <a:ext cx="11811000" cy="6087530"/>
          </a:xfrm>
          <a:prstGeom prst="roundRect">
            <a:avLst>
              <a:gd name="adj" fmla="val 7416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0" dirty="0" smtClean="0"/>
              <a:t>사진</a:t>
            </a:r>
            <a:endParaRPr lang="ko-KR" altLang="en-US" sz="20000" dirty="0"/>
          </a:p>
        </p:txBody>
      </p:sp>
      <p:sp>
        <p:nvSpPr>
          <p:cNvPr id="6" name="TextBox 5"/>
          <p:cNvSpPr txBox="1"/>
          <p:nvPr/>
        </p:nvSpPr>
        <p:spPr>
          <a:xfrm>
            <a:off x="355600" y="5720080"/>
            <a:ext cx="520847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ln>
                  <a:solidFill>
                    <a:schemeClr val="bg1"/>
                  </a:solidFill>
                </a:ln>
              </a:rPr>
              <a:t>생명을 다루기에</a:t>
            </a:r>
            <a:r>
              <a:rPr lang="en-US" altLang="ko-KR" sz="2400" b="1" dirty="0" smtClean="0">
                <a:ln>
                  <a:solidFill>
                    <a:schemeClr val="bg1"/>
                  </a:solidFill>
                </a:ln>
              </a:rPr>
              <a:t>, </a:t>
            </a:r>
            <a:r>
              <a:rPr lang="ko-KR" altLang="en-US" sz="2400" b="1" dirty="0" smtClean="0">
                <a:ln>
                  <a:solidFill>
                    <a:schemeClr val="bg1"/>
                  </a:solidFill>
                </a:ln>
              </a:rPr>
              <a:t>더 엄격하게</a:t>
            </a:r>
            <a:r>
              <a:rPr lang="en-US" altLang="ko-KR" sz="2400" b="1" dirty="0" smtClean="0">
                <a:ln>
                  <a:solidFill>
                    <a:schemeClr val="bg1"/>
                  </a:solidFill>
                </a:ln>
              </a:rPr>
              <a:t>. </a:t>
            </a:r>
            <a:endParaRPr lang="en-US" altLang="ko-KR" sz="2400" b="1" dirty="0">
              <a:ln>
                <a:solidFill>
                  <a:schemeClr val="bg1"/>
                </a:solidFill>
              </a:ln>
            </a:endParaRPr>
          </a:p>
          <a:p>
            <a:r>
              <a:rPr lang="ko-KR" altLang="en-US" sz="2400" b="1" dirty="0" smtClean="0">
                <a:ln>
                  <a:solidFill>
                    <a:schemeClr val="bg1"/>
                  </a:solidFill>
                </a:ln>
              </a:rPr>
              <a:t>대한민국 의약품 유통의 기준</a:t>
            </a:r>
            <a:r>
              <a:rPr lang="en-US" altLang="ko-KR" sz="2400" b="1" dirty="0" smtClean="0">
                <a:ln>
                  <a:solidFill>
                    <a:schemeClr val="bg1"/>
                  </a:solidFill>
                </a:ln>
              </a:rPr>
              <a:t>, </a:t>
            </a:r>
            <a:r>
              <a:rPr lang="ko-KR" altLang="en-US" sz="2400" b="1" dirty="0" smtClean="0">
                <a:ln>
                  <a:solidFill>
                    <a:schemeClr val="bg1"/>
                  </a:solidFill>
                </a:ln>
              </a:rPr>
              <a:t>백제약품</a:t>
            </a:r>
            <a:r>
              <a:rPr lang="en-US" altLang="ko-KR" sz="2400" b="1" dirty="0" smtClean="0">
                <a:ln>
                  <a:solidFill>
                    <a:schemeClr val="bg1"/>
                  </a:solidFill>
                </a:ln>
              </a:rPr>
              <a:t>.</a:t>
            </a:r>
            <a:endParaRPr lang="ko-KR" altLang="en-US" sz="24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1503680" cy="433491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/>
              <a:t>로고</a:t>
            </a:r>
            <a:endParaRPr lang="ko-KR" alt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1562100" y="15240"/>
            <a:ext cx="11272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smtClean="0">
                <a:ln>
                  <a:solidFill>
                    <a:schemeClr val="bg1"/>
                  </a:solidFill>
                </a:ln>
              </a:rPr>
              <a:t>백제약품</a:t>
            </a:r>
            <a:endParaRPr lang="ko-KR" altLang="en-US" sz="20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48939" y="58176"/>
            <a:ext cx="93968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dirty="0" smtClean="0">
                <a:ln>
                  <a:solidFill>
                    <a:schemeClr val="bg1"/>
                  </a:solidFill>
                </a:ln>
              </a:rPr>
              <a:t>회사 소개</a:t>
            </a:r>
            <a:endParaRPr lang="ko-KR" altLang="en-US" sz="15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839302" y="58176"/>
            <a:ext cx="111601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dirty="0" smtClean="0">
                <a:ln>
                  <a:solidFill>
                    <a:schemeClr val="bg1"/>
                  </a:solidFill>
                </a:ln>
              </a:rPr>
              <a:t>물류 서비스</a:t>
            </a:r>
            <a:endParaRPr lang="ko-KR" altLang="en-US" sz="15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141261" y="58176"/>
            <a:ext cx="93487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 smtClean="0">
                <a:ln>
                  <a:solidFill>
                    <a:schemeClr val="bg1"/>
                  </a:solidFill>
                </a:ln>
              </a:rPr>
              <a:t>Contact</a:t>
            </a:r>
            <a:endParaRPr lang="ko-KR" altLang="en-US" sz="15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339441" y="58176"/>
            <a:ext cx="449162" cy="3231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500" b="1" dirty="0" smtClean="0">
                <a:ln>
                  <a:solidFill>
                    <a:schemeClr val="bg1"/>
                  </a:solidFill>
                </a:ln>
              </a:rPr>
              <a:t>EN</a:t>
            </a:r>
            <a:endParaRPr lang="ko-KR" altLang="en-US" sz="1500" b="1" dirty="0">
              <a:ln>
                <a:solidFill>
                  <a:schemeClr val="bg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866363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모서리가 둥근 직사각형 12"/>
          <p:cNvSpPr/>
          <p:nvPr/>
        </p:nvSpPr>
        <p:spPr>
          <a:xfrm>
            <a:off x="190500" y="601981"/>
            <a:ext cx="11811000" cy="6087530"/>
          </a:xfrm>
          <a:prstGeom prst="roundRect">
            <a:avLst>
              <a:gd name="adj" fmla="val 7416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0" dirty="0" smtClean="0"/>
              <a:t>사진</a:t>
            </a:r>
            <a:endParaRPr lang="ko-KR" altLang="en-US" sz="20000" dirty="0"/>
          </a:p>
        </p:txBody>
      </p:sp>
      <p:sp>
        <p:nvSpPr>
          <p:cNvPr id="6" name="TextBox 5"/>
          <p:cNvSpPr txBox="1"/>
          <p:nvPr/>
        </p:nvSpPr>
        <p:spPr>
          <a:xfrm>
            <a:off x="355600" y="5720080"/>
            <a:ext cx="520847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ln>
                  <a:solidFill>
                    <a:schemeClr val="bg1"/>
                  </a:solidFill>
                </a:ln>
              </a:rPr>
              <a:t>생명을 다루기에</a:t>
            </a:r>
            <a:r>
              <a:rPr lang="en-US" altLang="ko-KR" sz="2400" b="1" dirty="0" smtClean="0">
                <a:ln>
                  <a:solidFill>
                    <a:schemeClr val="bg1"/>
                  </a:solidFill>
                </a:ln>
              </a:rPr>
              <a:t>, </a:t>
            </a:r>
            <a:r>
              <a:rPr lang="ko-KR" altLang="en-US" sz="2400" b="1" dirty="0" smtClean="0">
                <a:ln>
                  <a:solidFill>
                    <a:schemeClr val="bg1"/>
                  </a:solidFill>
                </a:ln>
              </a:rPr>
              <a:t>더 엄격하게</a:t>
            </a:r>
            <a:r>
              <a:rPr lang="en-US" altLang="ko-KR" sz="2400" b="1" dirty="0" smtClean="0">
                <a:ln>
                  <a:solidFill>
                    <a:schemeClr val="bg1"/>
                  </a:solidFill>
                </a:ln>
              </a:rPr>
              <a:t>. </a:t>
            </a:r>
            <a:endParaRPr lang="en-US" altLang="ko-KR" sz="2400" b="1" dirty="0">
              <a:ln>
                <a:solidFill>
                  <a:schemeClr val="bg1"/>
                </a:solidFill>
              </a:ln>
            </a:endParaRPr>
          </a:p>
          <a:p>
            <a:r>
              <a:rPr lang="ko-KR" altLang="en-US" sz="2400" b="1" dirty="0" smtClean="0">
                <a:ln>
                  <a:solidFill>
                    <a:schemeClr val="bg1"/>
                  </a:solidFill>
                </a:ln>
              </a:rPr>
              <a:t>대한민국 의약품 유통의 기준</a:t>
            </a:r>
            <a:r>
              <a:rPr lang="en-US" altLang="ko-KR" sz="2400" b="1" dirty="0" smtClean="0">
                <a:ln>
                  <a:solidFill>
                    <a:schemeClr val="bg1"/>
                  </a:solidFill>
                </a:ln>
              </a:rPr>
              <a:t>, </a:t>
            </a:r>
            <a:r>
              <a:rPr lang="ko-KR" altLang="en-US" sz="2400" b="1" dirty="0" smtClean="0">
                <a:ln>
                  <a:solidFill>
                    <a:schemeClr val="bg1"/>
                  </a:solidFill>
                </a:ln>
              </a:rPr>
              <a:t>백제약품</a:t>
            </a:r>
            <a:r>
              <a:rPr lang="en-US" altLang="ko-KR" sz="2400" b="1" dirty="0" smtClean="0">
                <a:ln>
                  <a:solidFill>
                    <a:schemeClr val="bg1"/>
                  </a:solidFill>
                </a:ln>
              </a:rPr>
              <a:t>.</a:t>
            </a:r>
            <a:endParaRPr lang="ko-KR" altLang="en-US" sz="24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1503680" cy="433491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/>
              <a:t>로고</a:t>
            </a:r>
            <a:endParaRPr lang="ko-KR" alt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1562100" y="15240"/>
            <a:ext cx="11272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smtClean="0">
                <a:ln>
                  <a:solidFill>
                    <a:schemeClr val="bg1"/>
                  </a:solidFill>
                </a:ln>
              </a:rPr>
              <a:t>백제약품</a:t>
            </a:r>
            <a:endParaRPr lang="ko-KR" altLang="en-US" sz="20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505684" y="58176"/>
            <a:ext cx="93968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dirty="0" smtClean="0">
                <a:ln>
                  <a:solidFill>
                    <a:schemeClr val="bg1"/>
                  </a:solidFill>
                </a:ln>
              </a:rPr>
              <a:t>회사 소개</a:t>
            </a:r>
            <a:endParaRPr lang="ko-KR" altLang="en-US" sz="15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596047" y="58176"/>
            <a:ext cx="111601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dirty="0" smtClean="0">
                <a:ln>
                  <a:solidFill>
                    <a:schemeClr val="bg1"/>
                  </a:solidFill>
                </a:ln>
              </a:rPr>
              <a:t>물류 서비스</a:t>
            </a:r>
            <a:endParaRPr lang="ko-KR" altLang="en-US" sz="15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898006" y="58176"/>
            <a:ext cx="93487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 smtClean="0">
                <a:ln>
                  <a:solidFill>
                    <a:schemeClr val="bg1"/>
                  </a:solidFill>
                </a:ln>
              </a:rPr>
              <a:t>Contact</a:t>
            </a:r>
            <a:endParaRPr lang="ko-KR" altLang="en-US" sz="15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0" y="422121"/>
            <a:ext cx="12192000" cy="1589559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dirty="0"/>
          </a:p>
        </p:txBody>
      </p:sp>
      <p:sp>
        <p:nvSpPr>
          <p:cNvPr id="15" name="TextBox 14"/>
          <p:cNvSpPr txBox="1"/>
          <p:nvPr/>
        </p:nvSpPr>
        <p:spPr>
          <a:xfrm>
            <a:off x="8138161" y="466065"/>
            <a:ext cx="16723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 smtClean="0">
                <a:ln>
                  <a:solidFill>
                    <a:schemeClr val="bg1"/>
                  </a:solidFill>
                </a:ln>
              </a:rPr>
              <a:t>회사 개요</a:t>
            </a:r>
            <a:endParaRPr lang="ko-KR" altLang="en-US" sz="14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138161" y="745516"/>
            <a:ext cx="16723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 smtClean="0">
                <a:ln>
                  <a:solidFill>
                    <a:schemeClr val="bg1"/>
                  </a:solidFill>
                </a:ln>
              </a:rPr>
              <a:t>비전</a:t>
            </a:r>
            <a:endParaRPr lang="ko-KR" altLang="en-US" sz="14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138161" y="1024967"/>
            <a:ext cx="16723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 smtClean="0">
                <a:ln>
                  <a:solidFill>
                    <a:schemeClr val="bg1"/>
                  </a:solidFill>
                </a:ln>
              </a:rPr>
              <a:t>연혁</a:t>
            </a:r>
            <a:endParaRPr lang="ko-KR" altLang="en-US" sz="14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138161" y="1304418"/>
            <a:ext cx="16723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 err="1" smtClean="0">
                <a:ln>
                  <a:solidFill>
                    <a:schemeClr val="bg1"/>
                  </a:solidFill>
                </a:ln>
              </a:rPr>
              <a:t>그룹사</a:t>
            </a:r>
            <a:r>
              <a:rPr lang="ko-KR" altLang="en-US" sz="1400" b="1" dirty="0" smtClean="0">
                <a:ln>
                  <a:solidFill>
                    <a:schemeClr val="bg1"/>
                  </a:solidFill>
                </a:ln>
              </a:rPr>
              <a:t> 소개</a:t>
            </a:r>
            <a:endParaRPr lang="ko-KR" altLang="en-US" sz="14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138161" y="1583869"/>
            <a:ext cx="16723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 smtClean="0">
                <a:ln>
                  <a:solidFill>
                    <a:schemeClr val="bg1"/>
                  </a:solidFill>
                </a:ln>
              </a:rPr>
              <a:t>전국 네트워크</a:t>
            </a:r>
            <a:endParaRPr lang="ko-KR" altLang="en-US" sz="14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317873" y="466065"/>
            <a:ext cx="16723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 smtClean="0">
                <a:ln>
                  <a:solidFill>
                    <a:schemeClr val="bg1"/>
                  </a:solidFill>
                </a:ln>
              </a:rPr>
              <a:t>물류 서비스</a:t>
            </a:r>
            <a:endParaRPr lang="ko-KR" altLang="en-US" sz="14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529262" y="466065"/>
            <a:ext cx="16723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 smtClean="0">
                <a:ln>
                  <a:solidFill>
                    <a:schemeClr val="bg1"/>
                  </a:solidFill>
                </a:ln>
              </a:rPr>
              <a:t>Contact</a:t>
            </a:r>
            <a:endParaRPr lang="ko-KR" altLang="en-US" sz="1400" b="1" dirty="0">
              <a:ln>
                <a:solidFill>
                  <a:schemeClr val="bg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349135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모서리가 둥근 직사각형 12"/>
          <p:cNvSpPr/>
          <p:nvPr/>
        </p:nvSpPr>
        <p:spPr>
          <a:xfrm>
            <a:off x="0" y="433490"/>
            <a:ext cx="12192000" cy="3476895"/>
          </a:xfrm>
          <a:prstGeom prst="roundRect">
            <a:avLst>
              <a:gd name="adj" fmla="val 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0" dirty="0" smtClean="0"/>
              <a:t>사진</a:t>
            </a:r>
            <a:endParaRPr lang="ko-KR" altLang="en-US" sz="20000" dirty="0"/>
          </a:p>
        </p:txBody>
      </p:sp>
      <p:sp>
        <p:nvSpPr>
          <p:cNvPr id="6" name="TextBox 5"/>
          <p:cNvSpPr txBox="1"/>
          <p:nvPr/>
        </p:nvSpPr>
        <p:spPr>
          <a:xfrm>
            <a:off x="355600" y="2940955"/>
            <a:ext cx="520847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ln>
                  <a:solidFill>
                    <a:schemeClr val="bg1"/>
                  </a:solidFill>
                </a:ln>
              </a:rPr>
              <a:t>생명을 다루기에</a:t>
            </a:r>
            <a:r>
              <a:rPr lang="en-US" altLang="ko-KR" sz="2400" b="1" dirty="0" smtClean="0">
                <a:ln>
                  <a:solidFill>
                    <a:schemeClr val="bg1"/>
                  </a:solidFill>
                </a:ln>
              </a:rPr>
              <a:t>, </a:t>
            </a:r>
            <a:r>
              <a:rPr lang="ko-KR" altLang="en-US" sz="2400" b="1" dirty="0" smtClean="0">
                <a:ln>
                  <a:solidFill>
                    <a:schemeClr val="bg1"/>
                  </a:solidFill>
                </a:ln>
              </a:rPr>
              <a:t>더 엄격하게</a:t>
            </a:r>
            <a:r>
              <a:rPr lang="en-US" altLang="ko-KR" sz="2400" b="1" dirty="0" smtClean="0">
                <a:ln>
                  <a:solidFill>
                    <a:schemeClr val="bg1"/>
                  </a:solidFill>
                </a:ln>
              </a:rPr>
              <a:t>. </a:t>
            </a:r>
            <a:endParaRPr lang="en-US" altLang="ko-KR" sz="2400" b="1" dirty="0">
              <a:ln>
                <a:solidFill>
                  <a:schemeClr val="bg1"/>
                </a:solidFill>
              </a:ln>
            </a:endParaRPr>
          </a:p>
          <a:p>
            <a:r>
              <a:rPr lang="ko-KR" altLang="en-US" sz="2400" b="1" dirty="0" smtClean="0">
                <a:ln>
                  <a:solidFill>
                    <a:schemeClr val="bg1"/>
                  </a:solidFill>
                </a:ln>
              </a:rPr>
              <a:t>대한민국 의약품 유통의 기준</a:t>
            </a:r>
            <a:r>
              <a:rPr lang="en-US" altLang="ko-KR" sz="2400" b="1" dirty="0" smtClean="0">
                <a:ln>
                  <a:solidFill>
                    <a:schemeClr val="bg1"/>
                  </a:solidFill>
                </a:ln>
              </a:rPr>
              <a:t>, </a:t>
            </a:r>
            <a:r>
              <a:rPr lang="ko-KR" altLang="en-US" sz="2400" b="1" dirty="0" smtClean="0">
                <a:ln>
                  <a:solidFill>
                    <a:schemeClr val="bg1"/>
                  </a:solidFill>
                </a:ln>
              </a:rPr>
              <a:t>백제약품</a:t>
            </a:r>
            <a:r>
              <a:rPr lang="en-US" altLang="ko-KR" sz="2400" b="1" dirty="0" smtClean="0">
                <a:ln>
                  <a:solidFill>
                    <a:schemeClr val="bg1"/>
                  </a:solidFill>
                </a:ln>
              </a:rPr>
              <a:t>.</a:t>
            </a:r>
            <a:endParaRPr lang="ko-KR" altLang="en-US" sz="24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1503680" cy="433491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/>
              <a:t>로고</a:t>
            </a:r>
            <a:endParaRPr lang="ko-KR" alt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1562100" y="15240"/>
            <a:ext cx="11272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smtClean="0">
                <a:ln>
                  <a:solidFill>
                    <a:schemeClr val="bg1"/>
                  </a:solidFill>
                </a:ln>
              </a:rPr>
              <a:t>백제약품</a:t>
            </a:r>
            <a:endParaRPr lang="ko-KR" altLang="en-US" sz="20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505684" y="58176"/>
            <a:ext cx="93968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dirty="0" smtClean="0">
                <a:ln>
                  <a:solidFill>
                    <a:schemeClr val="bg1"/>
                  </a:solidFill>
                </a:ln>
              </a:rPr>
              <a:t>회사 소개</a:t>
            </a:r>
            <a:endParaRPr lang="ko-KR" altLang="en-US" sz="15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596047" y="58176"/>
            <a:ext cx="111601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dirty="0" smtClean="0">
                <a:ln>
                  <a:solidFill>
                    <a:schemeClr val="bg1"/>
                  </a:solidFill>
                </a:ln>
              </a:rPr>
              <a:t>물류 서비스</a:t>
            </a:r>
            <a:endParaRPr lang="ko-KR" altLang="en-US" sz="15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898006" y="58176"/>
            <a:ext cx="93487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 smtClean="0">
                <a:ln>
                  <a:solidFill>
                    <a:schemeClr val="bg1"/>
                  </a:solidFill>
                </a:ln>
              </a:rPr>
              <a:t>Contact</a:t>
            </a:r>
            <a:endParaRPr lang="ko-KR" altLang="en-US" sz="15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55600" y="5598649"/>
            <a:ext cx="529343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ln>
                  <a:solidFill>
                    <a:schemeClr val="bg1"/>
                  </a:solidFill>
                </a:ln>
              </a:rPr>
              <a:t>촘촘한 전국 유통망과 의약품 특화 물류</a:t>
            </a:r>
            <a:r>
              <a:rPr lang="en-US" altLang="ko-KR" sz="2400" b="1" dirty="0" smtClean="0">
                <a:ln>
                  <a:solidFill>
                    <a:schemeClr val="bg1"/>
                  </a:solidFill>
                </a:ln>
              </a:rPr>
              <a:t>, </a:t>
            </a:r>
          </a:p>
          <a:p>
            <a:r>
              <a:rPr lang="ko-KR" altLang="en-US" sz="2400" b="1" dirty="0" smtClean="0">
                <a:ln>
                  <a:solidFill>
                    <a:schemeClr val="bg1"/>
                  </a:solidFill>
                </a:ln>
              </a:rPr>
              <a:t>안정적인 </a:t>
            </a:r>
            <a:r>
              <a:rPr lang="ko-KR" altLang="en-US" sz="2400" b="1" dirty="0" err="1" smtClean="0">
                <a:ln>
                  <a:solidFill>
                    <a:schemeClr val="bg1"/>
                  </a:solidFill>
                </a:ln>
              </a:rPr>
              <a:t>공급망으로</a:t>
            </a:r>
            <a:r>
              <a:rPr lang="ko-KR" altLang="en-US" sz="2400" b="1" dirty="0" smtClean="0">
                <a:ln>
                  <a:solidFill>
                    <a:schemeClr val="bg1"/>
                  </a:solidFill>
                </a:ln>
              </a:rPr>
              <a:t> 더 넓게 연결하고</a:t>
            </a:r>
            <a:endParaRPr lang="en-US" altLang="ko-KR" sz="2400" b="1" dirty="0" smtClean="0">
              <a:ln>
                <a:solidFill>
                  <a:schemeClr val="bg1"/>
                </a:solidFill>
              </a:ln>
            </a:endParaRPr>
          </a:p>
          <a:p>
            <a:r>
              <a:rPr lang="ko-KR" altLang="en-US" sz="2400" b="1" dirty="0" smtClean="0">
                <a:ln>
                  <a:solidFill>
                    <a:schemeClr val="bg1"/>
                  </a:solidFill>
                </a:ln>
              </a:rPr>
              <a:t> 더 건강한 사회에 기여합니다</a:t>
            </a:r>
            <a:r>
              <a:rPr lang="en-US" altLang="ko-KR" sz="2400" b="1" dirty="0" smtClean="0">
                <a:ln>
                  <a:solidFill>
                    <a:schemeClr val="bg1"/>
                  </a:solidFill>
                </a:ln>
              </a:rPr>
              <a:t>.</a:t>
            </a:r>
            <a:endParaRPr lang="ko-KR" altLang="en-US" sz="24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2179358" y="5132832"/>
            <a:ext cx="1645920" cy="39014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dirty="0"/>
          </a:p>
        </p:txBody>
      </p:sp>
      <p:sp>
        <p:nvSpPr>
          <p:cNvPr id="24" name="TextBox 23"/>
          <p:cNvSpPr txBox="1"/>
          <p:nvPr/>
        </p:nvSpPr>
        <p:spPr>
          <a:xfrm>
            <a:off x="2514043" y="5189404"/>
            <a:ext cx="9765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ln>
                  <a:solidFill>
                    <a:schemeClr val="bg1"/>
                  </a:solidFill>
                </a:ln>
              </a:rPr>
              <a:t>Strength</a:t>
            </a:r>
            <a:endParaRPr lang="ko-KR" altLang="en-US" sz="1400" b="1" dirty="0">
              <a:ln>
                <a:solidFill>
                  <a:schemeClr val="bg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751232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/>
          <p:cNvSpPr/>
          <p:nvPr/>
        </p:nvSpPr>
        <p:spPr>
          <a:xfrm>
            <a:off x="9822180" y="2103970"/>
            <a:ext cx="2179320" cy="4754031"/>
          </a:xfrm>
          <a:prstGeom prst="roundRect">
            <a:avLst>
              <a:gd name="adj" fmla="val 7416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/>
              <a:t>사진</a:t>
            </a:r>
            <a:endParaRPr lang="ko-KR" altLang="en-US" sz="2000" dirty="0"/>
          </a:p>
        </p:txBody>
      </p:sp>
      <p:sp>
        <p:nvSpPr>
          <p:cNvPr id="8" name="모서리가 둥근 직사각형 7"/>
          <p:cNvSpPr/>
          <p:nvPr/>
        </p:nvSpPr>
        <p:spPr>
          <a:xfrm>
            <a:off x="7416011" y="1719034"/>
            <a:ext cx="2179320" cy="4754031"/>
          </a:xfrm>
          <a:prstGeom prst="roundRect">
            <a:avLst>
              <a:gd name="adj" fmla="val 7416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/>
              <a:t>사진</a:t>
            </a:r>
            <a:endParaRPr lang="ko-KR" altLang="en-US" sz="2000" dirty="0"/>
          </a:p>
        </p:txBody>
      </p:sp>
      <p:sp>
        <p:nvSpPr>
          <p:cNvPr id="9" name="모서리가 둥근 직사각형 8"/>
          <p:cNvSpPr/>
          <p:nvPr/>
        </p:nvSpPr>
        <p:spPr>
          <a:xfrm>
            <a:off x="5011274" y="2103969"/>
            <a:ext cx="2179320" cy="4754031"/>
          </a:xfrm>
          <a:prstGeom prst="roundRect">
            <a:avLst>
              <a:gd name="adj" fmla="val 7416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/>
              <a:t>사진</a:t>
            </a:r>
            <a:endParaRPr lang="ko-KR" altLang="en-US" sz="2000" dirty="0"/>
          </a:p>
        </p:txBody>
      </p:sp>
      <p:sp>
        <p:nvSpPr>
          <p:cNvPr id="10" name="TextBox 9"/>
          <p:cNvSpPr txBox="1"/>
          <p:nvPr/>
        </p:nvSpPr>
        <p:spPr>
          <a:xfrm>
            <a:off x="355600" y="642601"/>
            <a:ext cx="529343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ln>
                  <a:solidFill>
                    <a:schemeClr val="bg1"/>
                  </a:solidFill>
                </a:ln>
              </a:rPr>
              <a:t>촘촘한 전국 유통망과 의약품 특화 물류</a:t>
            </a:r>
            <a:r>
              <a:rPr lang="en-US" altLang="ko-KR" sz="2400" b="1" dirty="0" smtClean="0">
                <a:ln>
                  <a:solidFill>
                    <a:schemeClr val="bg1"/>
                  </a:solidFill>
                </a:ln>
              </a:rPr>
              <a:t>, </a:t>
            </a:r>
          </a:p>
          <a:p>
            <a:r>
              <a:rPr lang="ko-KR" altLang="en-US" sz="2400" b="1" dirty="0" smtClean="0">
                <a:ln>
                  <a:solidFill>
                    <a:schemeClr val="bg1"/>
                  </a:solidFill>
                </a:ln>
              </a:rPr>
              <a:t>안정적인 </a:t>
            </a:r>
            <a:r>
              <a:rPr lang="ko-KR" altLang="en-US" sz="2400" b="1" dirty="0" err="1" smtClean="0">
                <a:ln>
                  <a:solidFill>
                    <a:schemeClr val="bg1"/>
                  </a:solidFill>
                </a:ln>
              </a:rPr>
              <a:t>공급망으로</a:t>
            </a:r>
            <a:r>
              <a:rPr lang="ko-KR" altLang="en-US" sz="2400" b="1" dirty="0" smtClean="0">
                <a:ln>
                  <a:solidFill>
                    <a:schemeClr val="bg1"/>
                  </a:solidFill>
                </a:ln>
              </a:rPr>
              <a:t> 더 넓게 연결하고</a:t>
            </a:r>
            <a:endParaRPr lang="en-US" altLang="ko-KR" sz="2400" b="1" dirty="0" smtClean="0">
              <a:ln>
                <a:solidFill>
                  <a:schemeClr val="bg1"/>
                </a:solidFill>
              </a:ln>
            </a:endParaRPr>
          </a:p>
          <a:p>
            <a:r>
              <a:rPr lang="ko-KR" altLang="en-US" sz="2400" b="1" dirty="0" smtClean="0">
                <a:ln>
                  <a:solidFill>
                    <a:schemeClr val="bg1"/>
                  </a:solidFill>
                </a:ln>
              </a:rPr>
              <a:t> 더 건강한 사회에 기여합니다</a:t>
            </a:r>
            <a:r>
              <a:rPr lang="en-US" altLang="ko-KR" sz="2400" b="1" dirty="0" smtClean="0">
                <a:ln>
                  <a:solidFill>
                    <a:schemeClr val="bg1"/>
                  </a:solidFill>
                </a:ln>
              </a:rPr>
              <a:t>.</a:t>
            </a:r>
            <a:endParaRPr lang="ko-KR" altLang="en-US" sz="24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5031571" y="5888289"/>
            <a:ext cx="21387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b="1" dirty="0">
                <a:ln w="3175">
                  <a:solidFill>
                    <a:schemeClr val="bg1"/>
                  </a:solidFill>
                </a:ln>
              </a:rPr>
              <a:t>전국을 연결하는 촘촘한 유통망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9933047" y="5888289"/>
            <a:ext cx="19575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b="1" dirty="0" smtClean="0">
                <a:ln w="3175">
                  <a:solidFill>
                    <a:schemeClr val="bg1"/>
                  </a:solidFill>
                </a:ln>
              </a:rPr>
              <a:t>안정적으로 이어지는 </a:t>
            </a:r>
            <a:r>
              <a:rPr lang="ko-KR" altLang="en-US" sz="1200" b="1" dirty="0" err="1" smtClean="0">
                <a:ln w="3175">
                  <a:solidFill>
                    <a:schemeClr val="bg1"/>
                  </a:solidFill>
                </a:ln>
              </a:rPr>
              <a:t>공급망</a:t>
            </a:r>
            <a:endParaRPr lang="ko-KR" altLang="en-US" sz="1200" b="1" dirty="0">
              <a:ln w="3175">
                <a:solidFill>
                  <a:schemeClr val="bg1"/>
                </a:solidFill>
              </a:ln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7436308" y="5503354"/>
            <a:ext cx="21387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b="1" dirty="0" smtClean="0">
                <a:ln w="3175">
                  <a:solidFill>
                    <a:schemeClr val="bg1"/>
                  </a:solidFill>
                </a:ln>
              </a:rPr>
              <a:t>의약품에 최적화된 물류 시스템</a:t>
            </a:r>
            <a:endParaRPr lang="ko-KR" altLang="en-US" sz="1200" b="1" dirty="0">
              <a:ln w="3175">
                <a:solidFill>
                  <a:schemeClr val="bg1"/>
                </a:solidFill>
              </a:ln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5019176" y="6165288"/>
            <a:ext cx="199766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1" dirty="0" smtClean="0">
                <a:ln w="3175">
                  <a:solidFill>
                    <a:schemeClr val="bg1"/>
                  </a:solidFill>
                </a:ln>
              </a:rPr>
              <a:t>전국 </a:t>
            </a:r>
            <a:r>
              <a:rPr lang="en-US" altLang="ko-KR" sz="700" b="1" dirty="0" smtClean="0">
                <a:ln w="3175">
                  <a:solidFill>
                    <a:schemeClr val="bg1"/>
                  </a:solidFill>
                </a:ln>
              </a:rPr>
              <a:t>19</a:t>
            </a:r>
            <a:r>
              <a:rPr lang="ko-KR" altLang="en-US" sz="700" b="1" dirty="0" smtClean="0">
                <a:ln w="3175">
                  <a:solidFill>
                    <a:schemeClr val="bg1"/>
                  </a:solidFill>
                </a:ln>
              </a:rPr>
              <a:t>개 지점과 </a:t>
            </a:r>
            <a:r>
              <a:rPr lang="en-US" altLang="ko-KR" sz="700" b="1" dirty="0" smtClean="0">
                <a:ln w="3175">
                  <a:solidFill>
                    <a:schemeClr val="bg1"/>
                  </a:solidFill>
                </a:ln>
              </a:rPr>
              <a:t>10</a:t>
            </a:r>
            <a:r>
              <a:rPr lang="ko-KR" altLang="en-US" sz="700" b="1" dirty="0" smtClean="0">
                <a:ln w="3175">
                  <a:solidFill>
                    <a:schemeClr val="bg1"/>
                  </a:solidFill>
                </a:ln>
              </a:rPr>
              <a:t>개의 물류센터</a:t>
            </a:r>
            <a:r>
              <a:rPr lang="en-US" altLang="ko-KR" sz="700" b="1" dirty="0" smtClean="0">
                <a:ln w="3175">
                  <a:solidFill>
                    <a:schemeClr val="bg1"/>
                  </a:solidFill>
                </a:ln>
              </a:rPr>
              <a:t>, </a:t>
            </a:r>
          </a:p>
          <a:p>
            <a:r>
              <a:rPr lang="en-US" altLang="ko-KR" sz="700" b="1" dirty="0" smtClean="0">
                <a:ln w="3175">
                  <a:solidFill>
                    <a:schemeClr val="bg1"/>
                  </a:solidFill>
                </a:ln>
              </a:rPr>
              <a:t>300</a:t>
            </a:r>
            <a:r>
              <a:rPr lang="ko-KR" altLang="en-US" sz="700" b="1" dirty="0" smtClean="0">
                <a:ln w="3175">
                  <a:solidFill>
                    <a:schemeClr val="bg1"/>
                  </a:solidFill>
                </a:ln>
              </a:rPr>
              <a:t>여 대의 배송 인프라로</a:t>
            </a:r>
          </a:p>
          <a:p>
            <a:r>
              <a:rPr lang="ko-KR" altLang="en-US" sz="700" b="1" dirty="0" smtClean="0">
                <a:ln w="3175">
                  <a:solidFill>
                    <a:schemeClr val="bg1"/>
                  </a:solidFill>
                </a:ln>
              </a:rPr>
              <a:t>도서산간까지 하루 두 번 안정적으로 전달합니다</a:t>
            </a:r>
            <a:r>
              <a:rPr lang="en-US" altLang="ko-KR" sz="700" b="1" dirty="0" smtClean="0">
                <a:ln w="3175">
                  <a:solidFill>
                    <a:schemeClr val="bg1"/>
                  </a:solidFill>
                </a:ln>
              </a:rPr>
              <a:t>.</a:t>
            </a:r>
            <a:endParaRPr lang="ko-KR" altLang="en-US" sz="700" b="1" dirty="0">
              <a:ln w="3175">
                <a:solidFill>
                  <a:schemeClr val="bg1"/>
                </a:solidFill>
              </a:ln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9828518" y="6165288"/>
            <a:ext cx="2188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1" dirty="0" smtClean="0">
                <a:ln w="3175">
                  <a:solidFill>
                    <a:schemeClr val="bg1"/>
                  </a:solidFill>
                </a:ln>
              </a:rPr>
              <a:t>전국 </a:t>
            </a:r>
            <a:r>
              <a:rPr lang="en-US" altLang="ko-KR" sz="700" b="1" dirty="0" smtClean="0">
                <a:ln w="3175">
                  <a:solidFill>
                    <a:schemeClr val="bg1"/>
                  </a:solidFill>
                </a:ln>
              </a:rPr>
              <a:t>2</a:t>
            </a:r>
            <a:r>
              <a:rPr lang="ko-KR" altLang="en-US" sz="700" b="1" dirty="0" smtClean="0">
                <a:ln w="3175">
                  <a:solidFill>
                    <a:schemeClr val="bg1"/>
                  </a:solidFill>
                </a:ln>
              </a:rPr>
              <a:t>만여 </a:t>
            </a:r>
            <a:r>
              <a:rPr lang="ko-KR" altLang="en-US" sz="700" b="1" dirty="0" err="1" smtClean="0">
                <a:ln w="3175">
                  <a:solidFill>
                    <a:schemeClr val="bg1"/>
                  </a:solidFill>
                </a:ln>
              </a:rPr>
              <a:t>병의원</a:t>
            </a:r>
            <a:r>
              <a:rPr lang="en-US" altLang="ko-KR" sz="700" b="1" dirty="0" smtClean="0">
                <a:ln w="3175">
                  <a:solidFill>
                    <a:schemeClr val="bg1"/>
                  </a:solidFill>
                </a:ln>
              </a:rPr>
              <a:t>·</a:t>
            </a:r>
            <a:r>
              <a:rPr lang="ko-KR" altLang="en-US" sz="700" b="1" dirty="0" smtClean="0">
                <a:ln w="3175">
                  <a:solidFill>
                    <a:schemeClr val="bg1"/>
                  </a:solidFill>
                </a:ln>
              </a:rPr>
              <a:t>약국과 함께</a:t>
            </a:r>
            <a:r>
              <a:rPr lang="en-US" altLang="ko-KR" sz="700" b="1" dirty="0" smtClean="0">
                <a:ln w="3175">
                  <a:solidFill>
                    <a:schemeClr val="bg1"/>
                  </a:solidFill>
                </a:ln>
              </a:rPr>
              <a:t>,</a:t>
            </a:r>
          </a:p>
          <a:p>
            <a:r>
              <a:rPr lang="ko-KR" altLang="en-US" sz="700" b="1" dirty="0" smtClean="0">
                <a:ln w="3175">
                  <a:solidFill>
                    <a:schemeClr val="bg1"/>
                  </a:solidFill>
                </a:ln>
              </a:rPr>
              <a:t>데이터 기반 운영으로 필요한 순간을 놓치지 않습니다</a:t>
            </a:r>
            <a:r>
              <a:rPr lang="en-US" altLang="ko-KR" sz="700" b="1" dirty="0" smtClean="0">
                <a:ln w="3175">
                  <a:solidFill>
                    <a:schemeClr val="bg1"/>
                  </a:solidFill>
                </a:ln>
              </a:rPr>
              <a:t>.</a:t>
            </a:r>
            <a:endParaRPr lang="ko-KR" altLang="en-US" sz="700" b="1" dirty="0">
              <a:ln w="3175">
                <a:solidFill>
                  <a:schemeClr val="bg1"/>
                </a:solidFill>
              </a:ln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7423913" y="5780353"/>
            <a:ext cx="20168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ln w="3175">
                  <a:solidFill>
                    <a:schemeClr val="bg1"/>
                  </a:solidFill>
                </a:ln>
              </a:rPr>
              <a:t>1,200 PLT </a:t>
            </a:r>
            <a:r>
              <a:rPr lang="ko-KR" altLang="en-US" sz="700" b="1" dirty="0" smtClean="0">
                <a:ln w="3175">
                  <a:solidFill>
                    <a:schemeClr val="bg1"/>
                  </a:solidFill>
                </a:ln>
              </a:rPr>
              <a:t>규모의 콜드체인 센터와 자동화 설비</a:t>
            </a:r>
            <a:r>
              <a:rPr lang="en-US" altLang="ko-KR" sz="700" b="1" dirty="0" smtClean="0">
                <a:ln w="3175">
                  <a:solidFill>
                    <a:schemeClr val="bg1"/>
                  </a:solidFill>
                </a:ln>
              </a:rPr>
              <a:t>,</a:t>
            </a:r>
          </a:p>
          <a:p>
            <a:r>
              <a:rPr lang="en-US" altLang="ko-KR" sz="700" b="1" dirty="0" smtClean="0">
                <a:ln w="3175">
                  <a:solidFill>
                    <a:schemeClr val="bg1"/>
                  </a:solidFill>
                </a:ln>
              </a:rPr>
              <a:t>24</a:t>
            </a:r>
            <a:r>
              <a:rPr lang="ko-KR" altLang="en-US" sz="700" b="1" dirty="0" smtClean="0">
                <a:ln w="3175">
                  <a:solidFill>
                    <a:schemeClr val="bg1"/>
                  </a:solidFill>
                </a:ln>
              </a:rPr>
              <a:t>시간 온도 관리로 품질을 안전하게 유지합니다</a:t>
            </a:r>
            <a:r>
              <a:rPr lang="en-US" altLang="ko-KR" sz="700" b="1" dirty="0" smtClean="0">
                <a:ln w="3175">
                  <a:solidFill>
                    <a:schemeClr val="bg1"/>
                  </a:solidFill>
                </a:ln>
              </a:rPr>
              <a:t>.</a:t>
            </a:r>
            <a:endParaRPr lang="ko-KR" altLang="en-US" sz="700" b="1" dirty="0">
              <a:ln w="3175">
                <a:solidFill>
                  <a:schemeClr val="bg1"/>
                </a:solidFill>
              </a:ln>
            </a:endParaRPr>
          </a:p>
        </p:txBody>
      </p:sp>
      <p:sp>
        <p:nvSpPr>
          <p:cNvPr id="19" name="모서리가 둥근 직사각형 18"/>
          <p:cNvSpPr/>
          <p:nvPr/>
        </p:nvSpPr>
        <p:spPr>
          <a:xfrm>
            <a:off x="2179358" y="140208"/>
            <a:ext cx="1645920" cy="39014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dirty="0"/>
          </a:p>
        </p:txBody>
      </p:sp>
      <p:sp>
        <p:nvSpPr>
          <p:cNvPr id="20" name="TextBox 19"/>
          <p:cNvSpPr txBox="1"/>
          <p:nvPr/>
        </p:nvSpPr>
        <p:spPr>
          <a:xfrm>
            <a:off x="2514043" y="196780"/>
            <a:ext cx="9765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ln>
                  <a:solidFill>
                    <a:schemeClr val="bg1"/>
                  </a:solidFill>
                </a:ln>
              </a:rPr>
              <a:t>Strength</a:t>
            </a:r>
            <a:endParaRPr lang="ko-KR" altLang="en-US" sz="1400" b="1" dirty="0">
              <a:ln>
                <a:solidFill>
                  <a:schemeClr val="bg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645234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/>
          <p:cNvSpPr/>
          <p:nvPr/>
        </p:nvSpPr>
        <p:spPr>
          <a:xfrm>
            <a:off x="9822180" y="1"/>
            <a:ext cx="2179320" cy="2139023"/>
          </a:xfrm>
          <a:prstGeom prst="roundRect">
            <a:avLst>
              <a:gd name="adj" fmla="val 7416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/>
              <a:t>사진</a:t>
            </a:r>
            <a:endParaRPr lang="ko-KR" altLang="en-US" sz="2000" dirty="0"/>
          </a:p>
        </p:txBody>
      </p:sp>
      <p:sp>
        <p:nvSpPr>
          <p:cNvPr id="8" name="모서리가 둥근 직사각형 7"/>
          <p:cNvSpPr/>
          <p:nvPr/>
        </p:nvSpPr>
        <p:spPr>
          <a:xfrm>
            <a:off x="7416011" y="0"/>
            <a:ext cx="2179320" cy="1754087"/>
          </a:xfrm>
          <a:prstGeom prst="roundRect">
            <a:avLst>
              <a:gd name="adj" fmla="val 7416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/>
              <a:t>사진</a:t>
            </a:r>
            <a:endParaRPr lang="ko-KR" altLang="en-US" sz="2000" dirty="0"/>
          </a:p>
        </p:txBody>
      </p:sp>
      <p:sp>
        <p:nvSpPr>
          <p:cNvPr id="9" name="모서리가 둥근 직사각형 8"/>
          <p:cNvSpPr/>
          <p:nvPr/>
        </p:nvSpPr>
        <p:spPr>
          <a:xfrm>
            <a:off x="5011274" y="0"/>
            <a:ext cx="2179320" cy="2139023"/>
          </a:xfrm>
          <a:prstGeom prst="roundRect">
            <a:avLst>
              <a:gd name="adj" fmla="val 7416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/>
              <a:t>사진</a:t>
            </a:r>
            <a:endParaRPr lang="ko-KR" altLang="en-US" sz="2000" dirty="0"/>
          </a:p>
        </p:txBody>
      </p:sp>
      <p:sp>
        <p:nvSpPr>
          <p:cNvPr id="11" name="직사각형 10"/>
          <p:cNvSpPr/>
          <p:nvPr/>
        </p:nvSpPr>
        <p:spPr>
          <a:xfrm>
            <a:off x="5031571" y="1169312"/>
            <a:ext cx="21387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b="1" dirty="0">
                <a:ln w="3175">
                  <a:solidFill>
                    <a:schemeClr val="bg1"/>
                  </a:solidFill>
                </a:ln>
              </a:rPr>
              <a:t>전국을 연결하는 촘촘한 유통망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9933047" y="1169312"/>
            <a:ext cx="19575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b="1" dirty="0" smtClean="0">
                <a:ln w="3175">
                  <a:solidFill>
                    <a:schemeClr val="bg1"/>
                  </a:solidFill>
                </a:ln>
              </a:rPr>
              <a:t>안정적으로 이어지는 </a:t>
            </a:r>
            <a:r>
              <a:rPr lang="ko-KR" altLang="en-US" sz="1200" b="1" dirty="0" err="1" smtClean="0">
                <a:ln w="3175">
                  <a:solidFill>
                    <a:schemeClr val="bg1"/>
                  </a:solidFill>
                </a:ln>
              </a:rPr>
              <a:t>공급망</a:t>
            </a:r>
            <a:endParaRPr lang="ko-KR" altLang="en-US" sz="1200" b="1" dirty="0">
              <a:ln w="3175">
                <a:solidFill>
                  <a:schemeClr val="bg1"/>
                </a:solidFill>
              </a:ln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7436308" y="784377"/>
            <a:ext cx="21387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b="1" dirty="0" smtClean="0">
                <a:ln w="3175">
                  <a:solidFill>
                    <a:schemeClr val="bg1"/>
                  </a:solidFill>
                </a:ln>
              </a:rPr>
              <a:t>의약품에 최적화된 물류 시스템</a:t>
            </a:r>
            <a:endParaRPr lang="ko-KR" altLang="en-US" sz="1200" b="1" dirty="0">
              <a:ln w="3175">
                <a:solidFill>
                  <a:schemeClr val="bg1"/>
                </a:solidFill>
              </a:ln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5019176" y="1446311"/>
            <a:ext cx="199766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1" dirty="0" smtClean="0">
                <a:ln w="3175">
                  <a:solidFill>
                    <a:schemeClr val="bg1"/>
                  </a:solidFill>
                </a:ln>
              </a:rPr>
              <a:t>전국 </a:t>
            </a:r>
            <a:r>
              <a:rPr lang="en-US" altLang="ko-KR" sz="700" b="1" dirty="0" smtClean="0">
                <a:ln w="3175">
                  <a:solidFill>
                    <a:schemeClr val="bg1"/>
                  </a:solidFill>
                </a:ln>
              </a:rPr>
              <a:t>19</a:t>
            </a:r>
            <a:r>
              <a:rPr lang="ko-KR" altLang="en-US" sz="700" b="1" dirty="0" smtClean="0">
                <a:ln w="3175">
                  <a:solidFill>
                    <a:schemeClr val="bg1"/>
                  </a:solidFill>
                </a:ln>
              </a:rPr>
              <a:t>개 지점과 </a:t>
            </a:r>
            <a:r>
              <a:rPr lang="en-US" altLang="ko-KR" sz="700" b="1" dirty="0" smtClean="0">
                <a:ln w="3175">
                  <a:solidFill>
                    <a:schemeClr val="bg1"/>
                  </a:solidFill>
                </a:ln>
              </a:rPr>
              <a:t>10</a:t>
            </a:r>
            <a:r>
              <a:rPr lang="ko-KR" altLang="en-US" sz="700" b="1" dirty="0" smtClean="0">
                <a:ln w="3175">
                  <a:solidFill>
                    <a:schemeClr val="bg1"/>
                  </a:solidFill>
                </a:ln>
              </a:rPr>
              <a:t>개의 물류센터</a:t>
            </a:r>
            <a:r>
              <a:rPr lang="en-US" altLang="ko-KR" sz="700" b="1" dirty="0" smtClean="0">
                <a:ln w="3175">
                  <a:solidFill>
                    <a:schemeClr val="bg1"/>
                  </a:solidFill>
                </a:ln>
              </a:rPr>
              <a:t>, </a:t>
            </a:r>
          </a:p>
          <a:p>
            <a:r>
              <a:rPr lang="en-US" altLang="ko-KR" sz="700" b="1" dirty="0" smtClean="0">
                <a:ln w="3175">
                  <a:solidFill>
                    <a:schemeClr val="bg1"/>
                  </a:solidFill>
                </a:ln>
              </a:rPr>
              <a:t>300</a:t>
            </a:r>
            <a:r>
              <a:rPr lang="ko-KR" altLang="en-US" sz="700" b="1" dirty="0" smtClean="0">
                <a:ln w="3175">
                  <a:solidFill>
                    <a:schemeClr val="bg1"/>
                  </a:solidFill>
                </a:ln>
              </a:rPr>
              <a:t>여 대의 배송 인프라로</a:t>
            </a:r>
          </a:p>
          <a:p>
            <a:r>
              <a:rPr lang="ko-KR" altLang="en-US" sz="700" b="1" dirty="0" smtClean="0">
                <a:ln w="3175">
                  <a:solidFill>
                    <a:schemeClr val="bg1"/>
                  </a:solidFill>
                </a:ln>
              </a:rPr>
              <a:t>도서산간까지 하루 두 번 안정적으로 전달합니다</a:t>
            </a:r>
            <a:r>
              <a:rPr lang="en-US" altLang="ko-KR" sz="700" b="1" dirty="0" smtClean="0">
                <a:ln w="3175">
                  <a:solidFill>
                    <a:schemeClr val="bg1"/>
                  </a:solidFill>
                </a:ln>
              </a:rPr>
              <a:t>.</a:t>
            </a:r>
            <a:endParaRPr lang="ko-KR" altLang="en-US" sz="700" b="1" dirty="0">
              <a:ln w="3175">
                <a:solidFill>
                  <a:schemeClr val="bg1"/>
                </a:solidFill>
              </a:ln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9828518" y="1446311"/>
            <a:ext cx="2188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1" dirty="0" smtClean="0">
                <a:ln w="3175">
                  <a:solidFill>
                    <a:schemeClr val="bg1"/>
                  </a:solidFill>
                </a:ln>
              </a:rPr>
              <a:t>전국 </a:t>
            </a:r>
            <a:r>
              <a:rPr lang="en-US" altLang="ko-KR" sz="700" b="1" dirty="0" smtClean="0">
                <a:ln w="3175">
                  <a:solidFill>
                    <a:schemeClr val="bg1"/>
                  </a:solidFill>
                </a:ln>
              </a:rPr>
              <a:t>2</a:t>
            </a:r>
            <a:r>
              <a:rPr lang="ko-KR" altLang="en-US" sz="700" b="1" dirty="0" smtClean="0">
                <a:ln w="3175">
                  <a:solidFill>
                    <a:schemeClr val="bg1"/>
                  </a:solidFill>
                </a:ln>
              </a:rPr>
              <a:t>만여 </a:t>
            </a:r>
            <a:r>
              <a:rPr lang="ko-KR" altLang="en-US" sz="700" b="1" dirty="0" err="1" smtClean="0">
                <a:ln w="3175">
                  <a:solidFill>
                    <a:schemeClr val="bg1"/>
                  </a:solidFill>
                </a:ln>
              </a:rPr>
              <a:t>병의원</a:t>
            </a:r>
            <a:r>
              <a:rPr lang="en-US" altLang="ko-KR" sz="700" b="1" dirty="0" smtClean="0">
                <a:ln w="3175">
                  <a:solidFill>
                    <a:schemeClr val="bg1"/>
                  </a:solidFill>
                </a:ln>
              </a:rPr>
              <a:t>·</a:t>
            </a:r>
            <a:r>
              <a:rPr lang="ko-KR" altLang="en-US" sz="700" b="1" dirty="0" smtClean="0">
                <a:ln w="3175">
                  <a:solidFill>
                    <a:schemeClr val="bg1"/>
                  </a:solidFill>
                </a:ln>
              </a:rPr>
              <a:t>약국과 함께</a:t>
            </a:r>
            <a:r>
              <a:rPr lang="en-US" altLang="ko-KR" sz="700" b="1" dirty="0" smtClean="0">
                <a:ln w="3175">
                  <a:solidFill>
                    <a:schemeClr val="bg1"/>
                  </a:solidFill>
                </a:ln>
              </a:rPr>
              <a:t>,</a:t>
            </a:r>
          </a:p>
          <a:p>
            <a:r>
              <a:rPr lang="ko-KR" altLang="en-US" sz="700" b="1" dirty="0" smtClean="0">
                <a:ln w="3175">
                  <a:solidFill>
                    <a:schemeClr val="bg1"/>
                  </a:solidFill>
                </a:ln>
              </a:rPr>
              <a:t>데이터 기반 운영으로 필요한 순간을 놓치지 않습니다</a:t>
            </a:r>
            <a:r>
              <a:rPr lang="en-US" altLang="ko-KR" sz="700" b="1" dirty="0" smtClean="0">
                <a:ln w="3175">
                  <a:solidFill>
                    <a:schemeClr val="bg1"/>
                  </a:solidFill>
                </a:ln>
              </a:rPr>
              <a:t>.</a:t>
            </a:r>
            <a:endParaRPr lang="ko-KR" altLang="en-US" sz="700" b="1" dirty="0">
              <a:ln w="3175">
                <a:solidFill>
                  <a:schemeClr val="bg1"/>
                </a:solidFill>
              </a:ln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7423913" y="1061376"/>
            <a:ext cx="20168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ln w="3175">
                  <a:solidFill>
                    <a:schemeClr val="bg1"/>
                  </a:solidFill>
                </a:ln>
              </a:rPr>
              <a:t>1,200 PLT </a:t>
            </a:r>
            <a:r>
              <a:rPr lang="ko-KR" altLang="en-US" sz="700" b="1" dirty="0" smtClean="0">
                <a:ln w="3175">
                  <a:solidFill>
                    <a:schemeClr val="bg1"/>
                  </a:solidFill>
                </a:ln>
              </a:rPr>
              <a:t>규모의 콜드체인 센터와 자동화 설비</a:t>
            </a:r>
            <a:r>
              <a:rPr lang="en-US" altLang="ko-KR" sz="700" b="1" dirty="0" smtClean="0">
                <a:ln w="3175">
                  <a:solidFill>
                    <a:schemeClr val="bg1"/>
                  </a:solidFill>
                </a:ln>
              </a:rPr>
              <a:t>,</a:t>
            </a:r>
          </a:p>
          <a:p>
            <a:r>
              <a:rPr lang="en-US" altLang="ko-KR" sz="700" b="1" dirty="0" smtClean="0">
                <a:ln w="3175">
                  <a:solidFill>
                    <a:schemeClr val="bg1"/>
                  </a:solidFill>
                </a:ln>
              </a:rPr>
              <a:t>24</a:t>
            </a:r>
            <a:r>
              <a:rPr lang="ko-KR" altLang="en-US" sz="700" b="1" dirty="0" smtClean="0">
                <a:ln w="3175">
                  <a:solidFill>
                    <a:schemeClr val="bg1"/>
                  </a:solidFill>
                </a:ln>
              </a:rPr>
              <a:t>시간 온도 관리로 품질을 안전하게 유지합니다</a:t>
            </a:r>
            <a:r>
              <a:rPr lang="en-US" altLang="ko-KR" sz="700" b="1" dirty="0" smtClean="0">
                <a:ln w="3175">
                  <a:solidFill>
                    <a:schemeClr val="bg1"/>
                  </a:solidFill>
                </a:ln>
              </a:rPr>
              <a:t>.</a:t>
            </a:r>
            <a:endParaRPr lang="ko-KR" altLang="en-US" sz="700" b="1" dirty="0">
              <a:ln w="3175">
                <a:solidFill>
                  <a:schemeClr val="bg1"/>
                </a:solidFill>
              </a:ln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064561" y="5141449"/>
            <a:ext cx="606287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b="1" dirty="0" smtClean="0">
                <a:ln>
                  <a:solidFill>
                    <a:schemeClr val="bg1"/>
                  </a:solidFill>
                </a:ln>
              </a:rPr>
              <a:t>전국 유통망과 콜드체인 물류</a:t>
            </a:r>
            <a:r>
              <a:rPr lang="en-US" altLang="ko-KR" sz="2400" b="1" dirty="0" smtClean="0">
                <a:ln>
                  <a:solidFill>
                    <a:schemeClr val="bg1"/>
                  </a:solidFill>
                </a:ln>
              </a:rPr>
              <a:t>, </a:t>
            </a:r>
          </a:p>
          <a:p>
            <a:pPr algn="ctr"/>
            <a:r>
              <a:rPr lang="ko-KR" altLang="en-US" sz="2400" b="1" dirty="0" smtClean="0">
                <a:ln>
                  <a:solidFill>
                    <a:schemeClr val="bg1"/>
                  </a:solidFill>
                </a:ln>
              </a:rPr>
              <a:t>데이터 기반 </a:t>
            </a:r>
            <a:r>
              <a:rPr lang="ko-KR" altLang="en-US" sz="2400" b="1" dirty="0" err="1" smtClean="0">
                <a:ln>
                  <a:solidFill>
                    <a:schemeClr val="bg1"/>
                  </a:solidFill>
                </a:ln>
              </a:rPr>
              <a:t>공급망으로</a:t>
            </a:r>
            <a:r>
              <a:rPr lang="ko-KR" altLang="en-US" sz="2400" b="1" dirty="0" smtClean="0">
                <a:ln>
                  <a:solidFill>
                    <a:schemeClr val="bg1"/>
                  </a:solidFill>
                </a:ln>
              </a:rPr>
              <a:t> </a:t>
            </a:r>
            <a:endParaRPr lang="en-US" altLang="ko-KR" sz="2400" b="1" dirty="0" smtClean="0">
              <a:ln>
                <a:solidFill>
                  <a:schemeClr val="bg1"/>
                </a:solidFill>
              </a:ln>
            </a:endParaRPr>
          </a:p>
          <a:p>
            <a:pPr algn="ctr"/>
            <a:r>
              <a:rPr lang="ko-KR" altLang="en-US" sz="2400" b="1" dirty="0" smtClean="0">
                <a:ln>
                  <a:solidFill>
                    <a:schemeClr val="bg1"/>
                  </a:solidFill>
                </a:ln>
              </a:rPr>
              <a:t>빠른 시장 진입과 안정적인 성장을 지원합니다</a:t>
            </a:r>
            <a:r>
              <a:rPr lang="en-US" altLang="ko-KR" sz="2400" b="1" dirty="0" smtClean="0">
                <a:ln>
                  <a:solidFill>
                    <a:schemeClr val="bg1"/>
                  </a:solidFill>
                </a:ln>
              </a:rPr>
              <a:t>.</a:t>
            </a:r>
            <a:endParaRPr lang="ko-KR" altLang="en-US" sz="24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8" name="모서리가 둥근 직사각형 17"/>
          <p:cNvSpPr/>
          <p:nvPr/>
        </p:nvSpPr>
        <p:spPr>
          <a:xfrm>
            <a:off x="5273040" y="4602107"/>
            <a:ext cx="1645920" cy="39014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dirty="0"/>
          </a:p>
        </p:txBody>
      </p:sp>
      <p:sp>
        <p:nvSpPr>
          <p:cNvPr id="19" name="TextBox 18"/>
          <p:cNvSpPr txBox="1"/>
          <p:nvPr/>
        </p:nvSpPr>
        <p:spPr>
          <a:xfrm>
            <a:off x="5682264" y="4658679"/>
            <a:ext cx="8274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ln>
                  <a:solidFill>
                    <a:schemeClr val="bg1"/>
                  </a:solidFill>
                </a:ln>
              </a:rPr>
              <a:t>Service</a:t>
            </a:r>
            <a:endParaRPr lang="ko-KR" altLang="en-US" sz="1400" b="1" dirty="0">
              <a:ln>
                <a:solidFill>
                  <a:schemeClr val="bg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4047121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3064561" y="2227561"/>
            <a:ext cx="606287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b="1" dirty="0" smtClean="0">
                <a:ln>
                  <a:solidFill>
                    <a:schemeClr val="bg1"/>
                  </a:solidFill>
                </a:ln>
              </a:rPr>
              <a:t>전국 유통망과 콜드체인 물류</a:t>
            </a:r>
            <a:r>
              <a:rPr lang="en-US" altLang="ko-KR" sz="2400" b="1" dirty="0" smtClean="0">
                <a:ln>
                  <a:solidFill>
                    <a:schemeClr val="bg1"/>
                  </a:solidFill>
                </a:ln>
              </a:rPr>
              <a:t>, </a:t>
            </a:r>
          </a:p>
          <a:p>
            <a:pPr algn="ctr"/>
            <a:r>
              <a:rPr lang="ko-KR" altLang="en-US" sz="2400" b="1" dirty="0" smtClean="0">
                <a:ln>
                  <a:solidFill>
                    <a:schemeClr val="bg1"/>
                  </a:solidFill>
                </a:ln>
              </a:rPr>
              <a:t>데이터 기반 </a:t>
            </a:r>
            <a:r>
              <a:rPr lang="ko-KR" altLang="en-US" sz="2400" b="1" dirty="0" err="1" smtClean="0">
                <a:ln>
                  <a:solidFill>
                    <a:schemeClr val="bg1"/>
                  </a:solidFill>
                </a:ln>
              </a:rPr>
              <a:t>공급망으로</a:t>
            </a:r>
            <a:r>
              <a:rPr lang="ko-KR" altLang="en-US" sz="2400" b="1" dirty="0" smtClean="0">
                <a:ln>
                  <a:solidFill>
                    <a:schemeClr val="bg1"/>
                  </a:solidFill>
                </a:ln>
              </a:rPr>
              <a:t> </a:t>
            </a:r>
            <a:endParaRPr lang="en-US" altLang="ko-KR" sz="2400" b="1" dirty="0" smtClean="0">
              <a:ln>
                <a:solidFill>
                  <a:schemeClr val="bg1"/>
                </a:solidFill>
              </a:ln>
            </a:endParaRPr>
          </a:p>
          <a:p>
            <a:pPr algn="ctr"/>
            <a:r>
              <a:rPr lang="ko-KR" altLang="en-US" sz="2400" b="1" dirty="0" smtClean="0">
                <a:ln>
                  <a:solidFill>
                    <a:schemeClr val="bg1"/>
                  </a:solidFill>
                </a:ln>
              </a:rPr>
              <a:t>빠른 시장 진입과 안정적인 성장을 지원합니다</a:t>
            </a:r>
            <a:r>
              <a:rPr lang="en-US" altLang="ko-KR" sz="2400" b="1" dirty="0" smtClean="0">
                <a:ln>
                  <a:solidFill>
                    <a:schemeClr val="bg1"/>
                  </a:solidFill>
                </a:ln>
              </a:rPr>
              <a:t>.</a:t>
            </a:r>
            <a:endParaRPr lang="ko-KR" altLang="en-US" sz="24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8" name="모서리가 둥근 직사각형 17"/>
          <p:cNvSpPr/>
          <p:nvPr/>
        </p:nvSpPr>
        <p:spPr>
          <a:xfrm>
            <a:off x="5273040" y="1688219"/>
            <a:ext cx="1645920" cy="39014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dirty="0"/>
          </a:p>
        </p:txBody>
      </p:sp>
      <p:sp>
        <p:nvSpPr>
          <p:cNvPr id="19" name="TextBox 18"/>
          <p:cNvSpPr txBox="1"/>
          <p:nvPr/>
        </p:nvSpPr>
        <p:spPr>
          <a:xfrm>
            <a:off x="5682265" y="1744791"/>
            <a:ext cx="8274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 smtClean="0">
                <a:ln>
                  <a:solidFill>
                    <a:schemeClr val="bg1"/>
                  </a:solidFill>
                </a:ln>
              </a:rPr>
              <a:t>Service</a:t>
            </a:r>
            <a:endParaRPr lang="ko-KR" altLang="en-US" sz="14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7420356" y="4646002"/>
            <a:ext cx="2179320" cy="2190575"/>
          </a:xfrm>
          <a:prstGeom prst="roundRect">
            <a:avLst>
              <a:gd name="adj" fmla="val 7416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/>
              <a:t>사진</a:t>
            </a:r>
            <a:endParaRPr lang="ko-KR" altLang="en-US" sz="2000" dirty="0"/>
          </a:p>
        </p:txBody>
      </p:sp>
      <p:sp>
        <p:nvSpPr>
          <p:cNvPr id="21" name="모서리가 둥근 직사각형 20"/>
          <p:cNvSpPr/>
          <p:nvPr/>
        </p:nvSpPr>
        <p:spPr>
          <a:xfrm>
            <a:off x="5014187" y="4261066"/>
            <a:ext cx="2179320" cy="2575509"/>
          </a:xfrm>
          <a:prstGeom prst="roundRect">
            <a:avLst>
              <a:gd name="adj" fmla="val 7416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/>
              <a:t>사진</a:t>
            </a:r>
            <a:endParaRPr lang="ko-KR" altLang="en-US" sz="2000" dirty="0"/>
          </a:p>
        </p:txBody>
      </p:sp>
      <p:sp>
        <p:nvSpPr>
          <p:cNvPr id="22" name="모서리가 둥근 직사각형 21"/>
          <p:cNvSpPr/>
          <p:nvPr/>
        </p:nvSpPr>
        <p:spPr>
          <a:xfrm>
            <a:off x="2609450" y="4646001"/>
            <a:ext cx="2179320" cy="2190575"/>
          </a:xfrm>
          <a:prstGeom prst="roundRect">
            <a:avLst>
              <a:gd name="adj" fmla="val 7416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/>
              <a:t>사진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194575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3064561" y="697465"/>
            <a:ext cx="606287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b="1" dirty="0" smtClean="0">
                <a:ln>
                  <a:solidFill>
                    <a:schemeClr val="bg1"/>
                  </a:solidFill>
                </a:ln>
              </a:rPr>
              <a:t>전국 유통망과 콜드체인 물류</a:t>
            </a:r>
            <a:r>
              <a:rPr lang="en-US" altLang="ko-KR" sz="2400" b="1" dirty="0" smtClean="0">
                <a:ln>
                  <a:solidFill>
                    <a:schemeClr val="bg1"/>
                  </a:solidFill>
                </a:ln>
              </a:rPr>
              <a:t>, </a:t>
            </a:r>
          </a:p>
          <a:p>
            <a:pPr algn="ctr"/>
            <a:r>
              <a:rPr lang="ko-KR" altLang="en-US" sz="2400" b="1" dirty="0" smtClean="0">
                <a:ln>
                  <a:solidFill>
                    <a:schemeClr val="bg1"/>
                  </a:solidFill>
                </a:ln>
              </a:rPr>
              <a:t>데이터 기반 </a:t>
            </a:r>
            <a:r>
              <a:rPr lang="ko-KR" altLang="en-US" sz="2400" b="1" dirty="0" err="1" smtClean="0">
                <a:ln>
                  <a:solidFill>
                    <a:schemeClr val="bg1"/>
                  </a:solidFill>
                </a:ln>
              </a:rPr>
              <a:t>공급망으로</a:t>
            </a:r>
            <a:r>
              <a:rPr lang="ko-KR" altLang="en-US" sz="2400" b="1" dirty="0" smtClean="0">
                <a:ln>
                  <a:solidFill>
                    <a:schemeClr val="bg1"/>
                  </a:solidFill>
                </a:ln>
              </a:rPr>
              <a:t> </a:t>
            </a:r>
            <a:endParaRPr lang="en-US" altLang="ko-KR" sz="2400" b="1" dirty="0" smtClean="0">
              <a:ln>
                <a:solidFill>
                  <a:schemeClr val="bg1"/>
                </a:solidFill>
              </a:ln>
            </a:endParaRPr>
          </a:p>
          <a:p>
            <a:pPr algn="ctr"/>
            <a:r>
              <a:rPr lang="ko-KR" altLang="en-US" sz="2400" b="1" dirty="0" smtClean="0">
                <a:ln>
                  <a:solidFill>
                    <a:schemeClr val="bg1"/>
                  </a:solidFill>
                </a:ln>
              </a:rPr>
              <a:t>빠른 시장 진입과 안정적인 성장을 지원합니다</a:t>
            </a:r>
            <a:r>
              <a:rPr lang="en-US" altLang="ko-KR" sz="2400" b="1" dirty="0" smtClean="0">
                <a:ln>
                  <a:solidFill>
                    <a:schemeClr val="bg1"/>
                  </a:solidFill>
                </a:ln>
              </a:rPr>
              <a:t>.</a:t>
            </a:r>
            <a:endParaRPr lang="ko-KR" altLang="en-US" sz="24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8" name="모서리가 둥근 직사각형 17"/>
          <p:cNvSpPr/>
          <p:nvPr/>
        </p:nvSpPr>
        <p:spPr>
          <a:xfrm>
            <a:off x="5273040" y="158123"/>
            <a:ext cx="1645920" cy="39014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dirty="0"/>
          </a:p>
        </p:txBody>
      </p:sp>
      <p:sp>
        <p:nvSpPr>
          <p:cNvPr id="19" name="TextBox 18"/>
          <p:cNvSpPr txBox="1"/>
          <p:nvPr/>
        </p:nvSpPr>
        <p:spPr>
          <a:xfrm>
            <a:off x="5682265" y="214695"/>
            <a:ext cx="8274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 smtClean="0">
                <a:ln>
                  <a:solidFill>
                    <a:schemeClr val="bg1"/>
                  </a:solidFill>
                </a:ln>
              </a:rPr>
              <a:t>Service</a:t>
            </a:r>
            <a:endParaRPr lang="ko-KR" altLang="en-US" sz="14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8070834" y="2838691"/>
            <a:ext cx="3054820" cy="3935489"/>
          </a:xfrm>
          <a:prstGeom prst="roundRect">
            <a:avLst>
              <a:gd name="adj" fmla="val 7416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/>
              <a:t>사진</a:t>
            </a:r>
            <a:endParaRPr lang="ko-KR" altLang="en-US" sz="2000" dirty="0"/>
          </a:p>
        </p:txBody>
      </p:sp>
      <p:sp>
        <p:nvSpPr>
          <p:cNvPr id="21" name="모서리가 둥근 직사각형 20"/>
          <p:cNvSpPr/>
          <p:nvPr/>
        </p:nvSpPr>
        <p:spPr>
          <a:xfrm>
            <a:off x="4576437" y="2730970"/>
            <a:ext cx="3054820" cy="3935489"/>
          </a:xfrm>
          <a:prstGeom prst="roundRect">
            <a:avLst>
              <a:gd name="adj" fmla="val 7416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/>
              <a:t>사진</a:t>
            </a:r>
            <a:endParaRPr lang="ko-KR" altLang="en-US" sz="2000" dirty="0"/>
          </a:p>
        </p:txBody>
      </p:sp>
      <p:sp>
        <p:nvSpPr>
          <p:cNvPr id="22" name="모서리가 둥근 직사각형 21"/>
          <p:cNvSpPr/>
          <p:nvPr/>
        </p:nvSpPr>
        <p:spPr>
          <a:xfrm>
            <a:off x="1082040" y="2838691"/>
            <a:ext cx="3054820" cy="3935489"/>
          </a:xfrm>
          <a:prstGeom prst="roundRect">
            <a:avLst>
              <a:gd name="adj" fmla="val 7416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/>
              <a:t>사진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820531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3064561" y="697465"/>
            <a:ext cx="606287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b="1" dirty="0" smtClean="0">
                <a:ln>
                  <a:solidFill>
                    <a:schemeClr val="bg1"/>
                  </a:solidFill>
                </a:ln>
              </a:rPr>
              <a:t>전국 유통망과 콜드체인 물류</a:t>
            </a:r>
            <a:r>
              <a:rPr lang="en-US" altLang="ko-KR" sz="2400" b="1" dirty="0" smtClean="0">
                <a:ln>
                  <a:solidFill>
                    <a:schemeClr val="bg1"/>
                  </a:solidFill>
                </a:ln>
              </a:rPr>
              <a:t>, </a:t>
            </a:r>
          </a:p>
          <a:p>
            <a:pPr algn="ctr"/>
            <a:r>
              <a:rPr lang="ko-KR" altLang="en-US" sz="2400" b="1" dirty="0" smtClean="0">
                <a:ln>
                  <a:solidFill>
                    <a:schemeClr val="bg1"/>
                  </a:solidFill>
                </a:ln>
              </a:rPr>
              <a:t>데이터 기반 </a:t>
            </a:r>
            <a:r>
              <a:rPr lang="ko-KR" altLang="en-US" sz="2400" b="1" dirty="0" err="1" smtClean="0">
                <a:ln>
                  <a:solidFill>
                    <a:schemeClr val="bg1"/>
                  </a:solidFill>
                </a:ln>
              </a:rPr>
              <a:t>공급망으로</a:t>
            </a:r>
            <a:r>
              <a:rPr lang="ko-KR" altLang="en-US" sz="2400" b="1" dirty="0" smtClean="0">
                <a:ln>
                  <a:solidFill>
                    <a:schemeClr val="bg1"/>
                  </a:solidFill>
                </a:ln>
              </a:rPr>
              <a:t> </a:t>
            </a:r>
            <a:endParaRPr lang="en-US" altLang="ko-KR" sz="2400" b="1" dirty="0" smtClean="0">
              <a:ln>
                <a:solidFill>
                  <a:schemeClr val="bg1"/>
                </a:solidFill>
              </a:ln>
            </a:endParaRPr>
          </a:p>
          <a:p>
            <a:pPr algn="ctr"/>
            <a:r>
              <a:rPr lang="ko-KR" altLang="en-US" sz="2400" b="1" dirty="0" smtClean="0">
                <a:ln>
                  <a:solidFill>
                    <a:schemeClr val="bg1"/>
                  </a:solidFill>
                </a:ln>
              </a:rPr>
              <a:t>빠른 시장 진입과 안정적인 성장을 지원합니다</a:t>
            </a:r>
            <a:r>
              <a:rPr lang="en-US" altLang="ko-KR" sz="2400" b="1" dirty="0" smtClean="0">
                <a:ln>
                  <a:solidFill>
                    <a:schemeClr val="bg1"/>
                  </a:solidFill>
                </a:ln>
              </a:rPr>
              <a:t>.</a:t>
            </a:r>
            <a:endParaRPr lang="ko-KR" altLang="en-US" sz="24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8" name="모서리가 둥근 직사각형 17"/>
          <p:cNvSpPr/>
          <p:nvPr/>
        </p:nvSpPr>
        <p:spPr>
          <a:xfrm>
            <a:off x="5273040" y="158123"/>
            <a:ext cx="1645920" cy="39014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dirty="0"/>
          </a:p>
        </p:txBody>
      </p:sp>
      <p:sp>
        <p:nvSpPr>
          <p:cNvPr id="19" name="TextBox 18"/>
          <p:cNvSpPr txBox="1"/>
          <p:nvPr/>
        </p:nvSpPr>
        <p:spPr>
          <a:xfrm>
            <a:off x="5682264" y="214695"/>
            <a:ext cx="8274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 smtClean="0">
                <a:ln>
                  <a:solidFill>
                    <a:schemeClr val="bg1"/>
                  </a:solidFill>
                </a:ln>
              </a:rPr>
              <a:t>Service</a:t>
            </a:r>
            <a:endParaRPr lang="ko-KR" altLang="en-US" sz="14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8070834" y="2730970"/>
            <a:ext cx="3054820" cy="3935489"/>
          </a:xfrm>
          <a:prstGeom prst="roundRect">
            <a:avLst>
              <a:gd name="adj" fmla="val 7416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/>
              <a:t>사진</a:t>
            </a:r>
            <a:endParaRPr lang="ko-KR" altLang="en-US" sz="2000" dirty="0"/>
          </a:p>
        </p:txBody>
      </p:sp>
      <p:sp>
        <p:nvSpPr>
          <p:cNvPr id="22" name="모서리가 둥근 직사각형 21"/>
          <p:cNvSpPr/>
          <p:nvPr/>
        </p:nvSpPr>
        <p:spPr>
          <a:xfrm>
            <a:off x="1082040" y="2730970"/>
            <a:ext cx="3054820" cy="3935489"/>
          </a:xfrm>
          <a:prstGeom prst="roundRect">
            <a:avLst>
              <a:gd name="adj" fmla="val 7416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/>
              <a:t>사진</a:t>
            </a:r>
            <a:endParaRPr lang="ko-KR" altLang="en-US" sz="2000" dirty="0"/>
          </a:p>
        </p:txBody>
      </p:sp>
      <p:sp>
        <p:nvSpPr>
          <p:cNvPr id="21" name="모서리가 둥근 직사각형 20"/>
          <p:cNvSpPr/>
          <p:nvPr/>
        </p:nvSpPr>
        <p:spPr>
          <a:xfrm>
            <a:off x="1920240" y="1280160"/>
            <a:ext cx="8252460" cy="5386299"/>
          </a:xfrm>
          <a:prstGeom prst="roundRect">
            <a:avLst>
              <a:gd name="adj" fmla="val 7416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/>
              <a:t>사진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7731615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모서리가 둥근 직사각형 7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/>
              <a:t>사진</a:t>
            </a:r>
            <a:endParaRPr lang="ko-KR" altLang="en-US" sz="2000" dirty="0"/>
          </a:p>
        </p:txBody>
      </p:sp>
      <p:sp>
        <p:nvSpPr>
          <p:cNvPr id="9" name="모서리가 둥근 직사각형 8"/>
          <p:cNvSpPr/>
          <p:nvPr/>
        </p:nvSpPr>
        <p:spPr>
          <a:xfrm>
            <a:off x="8755380" y="251460"/>
            <a:ext cx="3108960" cy="5610860"/>
          </a:xfrm>
          <a:prstGeom prst="roundRect">
            <a:avLst>
              <a:gd name="adj" fmla="val 11029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dirty="0"/>
          </a:p>
        </p:txBody>
      </p:sp>
      <p:sp>
        <p:nvSpPr>
          <p:cNvPr id="10" name="직사각형 9"/>
          <p:cNvSpPr/>
          <p:nvPr/>
        </p:nvSpPr>
        <p:spPr>
          <a:xfrm>
            <a:off x="8913645" y="4727687"/>
            <a:ext cx="28023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b="1" dirty="0">
                <a:ln w="3175">
                  <a:solidFill>
                    <a:schemeClr val="bg1"/>
                  </a:solidFill>
                </a:ln>
              </a:rPr>
              <a:t>전국을 연결하는 촘촘한 유통망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8913645" y="5126771"/>
            <a:ext cx="2868093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b="1" dirty="0" smtClean="0">
                <a:ln w="3175">
                  <a:solidFill>
                    <a:schemeClr val="bg1"/>
                  </a:solidFill>
                </a:ln>
              </a:rPr>
              <a:t>전국 </a:t>
            </a:r>
            <a:r>
              <a:rPr lang="en-US" altLang="ko-KR" sz="1050" b="1" dirty="0" smtClean="0">
                <a:ln w="3175">
                  <a:solidFill>
                    <a:schemeClr val="bg1"/>
                  </a:solidFill>
                </a:ln>
              </a:rPr>
              <a:t>19</a:t>
            </a:r>
            <a:r>
              <a:rPr lang="ko-KR" altLang="en-US" sz="1050" b="1" dirty="0" smtClean="0">
                <a:ln w="3175">
                  <a:solidFill>
                    <a:schemeClr val="bg1"/>
                  </a:solidFill>
                </a:ln>
              </a:rPr>
              <a:t>개 지점과 </a:t>
            </a:r>
            <a:r>
              <a:rPr lang="en-US" altLang="ko-KR" sz="1050" b="1" dirty="0" smtClean="0">
                <a:ln w="3175">
                  <a:solidFill>
                    <a:schemeClr val="bg1"/>
                  </a:solidFill>
                </a:ln>
              </a:rPr>
              <a:t>10</a:t>
            </a:r>
            <a:r>
              <a:rPr lang="ko-KR" altLang="en-US" sz="1050" b="1" dirty="0" smtClean="0">
                <a:ln w="3175">
                  <a:solidFill>
                    <a:schemeClr val="bg1"/>
                  </a:solidFill>
                </a:ln>
              </a:rPr>
              <a:t>개의 물류센터</a:t>
            </a:r>
            <a:r>
              <a:rPr lang="en-US" altLang="ko-KR" sz="1050" b="1" dirty="0" smtClean="0">
                <a:ln w="3175">
                  <a:solidFill>
                    <a:schemeClr val="bg1"/>
                  </a:solidFill>
                </a:ln>
              </a:rPr>
              <a:t>, </a:t>
            </a:r>
          </a:p>
          <a:p>
            <a:r>
              <a:rPr lang="en-US" altLang="ko-KR" sz="1050" b="1" dirty="0" smtClean="0">
                <a:ln w="3175">
                  <a:solidFill>
                    <a:schemeClr val="bg1"/>
                  </a:solidFill>
                </a:ln>
              </a:rPr>
              <a:t>300</a:t>
            </a:r>
            <a:r>
              <a:rPr lang="ko-KR" altLang="en-US" sz="1050" b="1" dirty="0" smtClean="0">
                <a:ln w="3175">
                  <a:solidFill>
                    <a:schemeClr val="bg1"/>
                  </a:solidFill>
                </a:ln>
              </a:rPr>
              <a:t>여 대의 배송 인프라로</a:t>
            </a:r>
          </a:p>
          <a:p>
            <a:r>
              <a:rPr lang="ko-KR" altLang="en-US" sz="1050" b="1" dirty="0" smtClean="0">
                <a:ln w="3175">
                  <a:solidFill>
                    <a:schemeClr val="bg1"/>
                  </a:solidFill>
                </a:ln>
              </a:rPr>
              <a:t>도서산간까지 하루 두 번 안정적으로 전달합니다</a:t>
            </a:r>
            <a:r>
              <a:rPr lang="en-US" altLang="ko-KR" sz="1050" b="1" dirty="0" smtClean="0">
                <a:ln w="3175">
                  <a:solidFill>
                    <a:schemeClr val="bg1"/>
                  </a:solidFill>
                </a:ln>
              </a:rPr>
              <a:t>.</a:t>
            </a:r>
            <a:endParaRPr lang="ko-KR" altLang="en-US" sz="1050" b="1" dirty="0">
              <a:ln w="3175">
                <a:solidFill>
                  <a:schemeClr val="bg1"/>
                </a:solidFill>
              </a:ln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8974026" y="470647"/>
            <a:ext cx="62389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000" b="1" dirty="0" smtClean="0">
                <a:ln w="3175">
                  <a:solidFill>
                    <a:schemeClr val="bg1"/>
                  </a:solidFill>
                </a:ln>
              </a:rPr>
              <a:t>01</a:t>
            </a:r>
            <a:endParaRPr lang="ko-KR" altLang="en-US" sz="3000" b="1" dirty="0">
              <a:ln w="3175">
                <a:solidFill>
                  <a:schemeClr val="bg1"/>
                </a:solidFill>
              </a:ln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8974026" y="999106"/>
            <a:ext cx="1141659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700" b="1" dirty="0" smtClean="0">
                <a:ln w="3175">
                  <a:solidFill>
                    <a:schemeClr val="bg1"/>
                  </a:solidFill>
                </a:ln>
              </a:rPr>
              <a:t>유통망</a:t>
            </a:r>
            <a:endParaRPr lang="ko-KR" altLang="en-US" sz="2700" b="1" dirty="0">
              <a:ln w="3175">
                <a:solidFill>
                  <a:schemeClr val="bg1"/>
                </a:solidFill>
              </a:ln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992960" y="6116320"/>
            <a:ext cx="3204000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700" b="1" dirty="0" smtClean="0">
                <a:ln w="3175">
                  <a:solidFill>
                    <a:schemeClr val="bg1"/>
                  </a:solidFill>
                </a:ln>
              </a:rPr>
              <a:t>01. </a:t>
            </a:r>
            <a:r>
              <a:rPr lang="ko-KR" altLang="en-US" sz="2700" b="1" dirty="0" smtClean="0">
                <a:ln w="3175">
                  <a:solidFill>
                    <a:schemeClr val="bg1"/>
                  </a:solidFill>
                </a:ln>
              </a:rPr>
              <a:t>유통망</a:t>
            </a:r>
            <a:endParaRPr lang="ko-KR" altLang="en-US" sz="2700" b="1" dirty="0">
              <a:ln w="3175">
                <a:solidFill>
                  <a:schemeClr val="bg1"/>
                </a:solidFill>
              </a:ln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4492800" y="6116320"/>
            <a:ext cx="3204000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700" b="1" dirty="0" smtClean="0">
                <a:ln w="3175">
                  <a:solidFill>
                    <a:schemeClr val="bg1"/>
                  </a:solidFill>
                </a:ln>
              </a:rPr>
              <a:t>02. </a:t>
            </a:r>
            <a:r>
              <a:rPr lang="ko-KR" altLang="en-US" sz="2700" b="1" dirty="0" smtClean="0">
                <a:ln w="3175">
                  <a:solidFill>
                    <a:schemeClr val="bg1"/>
                  </a:solidFill>
                </a:ln>
              </a:rPr>
              <a:t>콜드체인</a:t>
            </a:r>
            <a:endParaRPr lang="ko-KR" altLang="en-US" sz="2700" b="1" dirty="0">
              <a:ln w="3175">
                <a:solidFill>
                  <a:schemeClr val="bg1"/>
                </a:solidFill>
              </a:ln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7992640" y="6116320"/>
            <a:ext cx="3204000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700" b="1" dirty="0" smtClean="0">
                <a:ln w="3175">
                  <a:solidFill>
                    <a:schemeClr val="bg1"/>
                  </a:solidFill>
                </a:ln>
              </a:rPr>
              <a:t>03. </a:t>
            </a:r>
            <a:r>
              <a:rPr lang="ko-KR" altLang="en-US" sz="2700" b="1" dirty="0" smtClean="0">
                <a:ln w="3175">
                  <a:solidFill>
                    <a:schemeClr val="bg1"/>
                  </a:solidFill>
                </a:ln>
              </a:rPr>
              <a:t>데이터 기반 관리</a:t>
            </a:r>
            <a:endParaRPr lang="ko-KR" altLang="en-US" sz="2700" b="1" dirty="0">
              <a:ln w="3175">
                <a:solidFill>
                  <a:schemeClr val="bg1"/>
                </a:solidFill>
              </a:ln>
            </a:endParaRPr>
          </a:p>
        </p:txBody>
      </p:sp>
      <p:cxnSp>
        <p:nvCxnSpPr>
          <p:cNvPr id="3" name="직선 연결선 2"/>
          <p:cNvCxnSpPr/>
          <p:nvPr/>
        </p:nvCxnSpPr>
        <p:spPr>
          <a:xfrm>
            <a:off x="182880" y="6004560"/>
            <a:ext cx="1168146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86163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모서리가 둥근 직사각형 7"/>
          <p:cNvSpPr/>
          <p:nvPr/>
        </p:nvSpPr>
        <p:spPr>
          <a:xfrm>
            <a:off x="0" y="0"/>
            <a:ext cx="12192000" cy="3429000"/>
          </a:xfrm>
          <a:prstGeom prst="roundRect">
            <a:avLst>
              <a:gd name="adj" fmla="val 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/>
              <a:t>사진</a:t>
            </a:r>
            <a:endParaRPr lang="ko-KR" altLang="en-US" sz="2000" dirty="0"/>
          </a:p>
        </p:txBody>
      </p:sp>
      <p:sp>
        <p:nvSpPr>
          <p:cNvPr id="9" name="모서리가 둥근 직사각형 8"/>
          <p:cNvSpPr/>
          <p:nvPr/>
        </p:nvSpPr>
        <p:spPr>
          <a:xfrm>
            <a:off x="8755380" y="0"/>
            <a:ext cx="3108960" cy="2433320"/>
          </a:xfrm>
          <a:prstGeom prst="roundRect">
            <a:avLst>
              <a:gd name="adj" fmla="val 11029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dirty="0"/>
          </a:p>
        </p:txBody>
      </p:sp>
      <p:sp>
        <p:nvSpPr>
          <p:cNvPr id="10" name="직사각형 9"/>
          <p:cNvSpPr/>
          <p:nvPr/>
        </p:nvSpPr>
        <p:spPr>
          <a:xfrm>
            <a:off x="8913645" y="1298687"/>
            <a:ext cx="28023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b="1" dirty="0">
                <a:ln w="3175">
                  <a:solidFill>
                    <a:schemeClr val="bg1"/>
                  </a:solidFill>
                </a:ln>
              </a:rPr>
              <a:t>전국을 연결하는 촘촘한 유통망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8913645" y="1697771"/>
            <a:ext cx="2868093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b="1" dirty="0" smtClean="0">
                <a:ln w="3175">
                  <a:solidFill>
                    <a:schemeClr val="bg1"/>
                  </a:solidFill>
                </a:ln>
              </a:rPr>
              <a:t>전국 </a:t>
            </a:r>
            <a:r>
              <a:rPr lang="en-US" altLang="ko-KR" sz="1050" b="1" dirty="0" smtClean="0">
                <a:ln w="3175">
                  <a:solidFill>
                    <a:schemeClr val="bg1"/>
                  </a:solidFill>
                </a:ln>
              </a:rPr>
              <a:t>19</a:t>
            </a:r>
            <a:r>
              <a:rPr lang="ko-KR" altLang="en-US" sz="1050" b="1" dirty="0" smtClean="0">
                <a:ln w="3175">
                  <a:solidFill>
                    <a:schemeClr val="bg1"/>
                  </a:solidFill>
                </a:ln>
              </a:rPr>
              <a:t>개 지점과 </a:t>
            </a:r>
            <a:r>
              <a:rPr lang="en-US" altLang="ko-KR" sz="1050" b="1" dirty="0" smtClean="0">
                <a:ln w="3175">
                  <a:solidFill>
                    <a:schemeClr val="bg1"/>
                  </a:solidFill>
                </a:ln>
              </a:rPr>
              <a:t>10</a:t>
            </a:r>
            <a:r>
              <a:rPr lang="ko-KR" altLang="en-US" sz="1050" b="1" dirty="0" smtClean="0">
                <a:ln w="3175">
                  <a:solidFill>
                    <a:schemeClr val="bg1"/>
                  </a:solidFill>
                </a:ln>
              </a:rPr>
              <a:t>개의 물류센터</a:t>
            </a:r>
            <a:r>
              <a:rPr lang="en-US" altLang="ko-KR" sz="1050" b="1" dirty="0" smtClean="0">
                <a:ln w="3175">
                  <a:solidFill>
                    <a:schemeClr val="bg1"/>
                  </a:solidFill>
                </a:ln>
              </a:rPr>
              <a:t>, </a:t>
            </a:r>
          </a:p>
          <a:p>
            <a:r>
              <a:rPr lang="en-US" altLang="ko-KR" sz="1050" b="1" dirty="0" smtClean="0">
                <a:ln w="3175">
                  <a:solidFill>
                    <a:schemeClr val="bg1"/>
                  </a:solidFill>
                </a:ln>
              </a:rPr>
              <a:t>300</a:t>
            </a:r>
            <a:r>
              <a:rPr lang="ko-KR" altLang="en-US" sz="1050" b="1" dirty="0" smtClean="0">
                <a:ln w="3175">
                  <a:solidFill>
                    <a:schemeClr val="bg1"/>
                  </a:solidFill>
                </a:ln>
              </a:rPr>
              <a:t>여 대의 배송 인프라로</a:t>
            </a:r>
          </a:p>
          <a:p>
            <a:r>
              <a:rPr lang="ko-KR" altLang="en-US" sz="1050" b="1" dirty="0" smtClean="0">
                <a:ln w="3175">
                  <a:solidFill>
                    <a:schemeClr val="bg1"/>
                  </a:solidFill>
                </a:ln>
              </a:rPr>
              <a:t>도서산간까지 하루 두 번 안정적으로 전달합니다</a:t>
            </a:r>
            <a:r>
              <a:rPr lang="en-US" altLang="ko-KR" sz="1050" b="1" dirty="0" smtClean="0">
                <a:ln w="3175">
                  <a:solidFill>
                    <a:schemeClr val="bg1"/>
                  </a:solidFill>
                </a:ln>
              </a:rPr>
              <a:t>.</a:t>
            </a:r>
            <a:endParaRPr lang="ko-KR" altLang="en-US" sz="1050" b="1" dirty="0">
              <a:ln w="3175">
                <a:solidFill>
                  <a:schemeClr val="bg1"/>
                </a:solidFill>
              </a:ln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992960" y="2687320"/>
            <a:ext cx="3204000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700" b="1" dirty="0" smtClean="0">
                <a:ln w="3175">
                  <a:solidFill>
                    <a:schemeClr val="bg1"/>
                  </a:solidFill>
                </a:ln>
              </a:rPr>
              <a:t>01. </a:t>
            </a:r>
            <a:r>
              <a:rPr lang="ko-KR" altLang="en-US" sz="2700" b="1" dirty="0" smtClean="0">
                <a:ln w="3175">
                  <a:solidFill>
                    <a:schemeClr val="bg1"/>
                  </a:solidFill>
                </a:ln>
              </a:rPr>
              <a:t>유통망</a:t>
            </a:r>
            <a:endParaRPr lang="ko-KR" altLang="en-US" sz="2700" b="1" dirty="0">
              <a:ln w="3175">
                <a:solidFill>
                  <a:schemeClr val="bg1"/>
                </a:solidFill>
              </a:ln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4492800" y="2687320"/>
            <a:ext cx="3204000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700" b="1" dirty="0" smtClean="0">
                <a:ln w="3175">
                  <a:solidFill>
                    <a:schemeClr val="bg1"/>
                  </a:solidFill>
                </a:ln>
              </a:rPr>
              <a:t>02. </a:t>
            </a:r>
            <a:r>
              <a:rPr lang="ko-KR" altLang="en-US" sz="2700" b="1" dirty="0" smtClean="0">
                <a:ln w="3175">
                  <a:solidFill>
                    <a:schemeClr val="bg1"/>
                  </a:solidFill>
                </a:ln>
              </a:rPr>
              <a:t>콜드체인</a:t>
            </a:r>
            <a:endParaRPr lang="ko-KR" altLang="en-US" sz="2700" b="1" dirty="0">
              <a:ln w="3175">
                <a:solidFill>
                  <a:schemeClr val="bg1"/>
                </a:solidFill>
              </a:ln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7992640" y="2687320"/>
            <a:ext cx="3204000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700" b="1" dirty="0" smtClean="0">
                <a:ln w="3175">
                  <a:solidFill>
                    <a:schemeClr val="bg1"/>
                  </a:solidFill>
                </a:ln>
              </a:rPr>
              <a:t>03. </a:t>
            </a:r>
            <a:r>
              <a:rPr lang="ko-KR" altLang="en-US" sz="2700" b="1" dirty="0" smtClean="0">
                <a:ln w="3175">
                  <a:solidFill>
                    <a:schemeClr val="bg1"/>
                  </a:solidFill>
                </a:ln>
              </a:rPr>
              <a:t>데이터 기반 관리</a:t>
            </a:r>
            <a:endParaRPr lang="ko-KR" altLang="en-US" sz="2700" b="1" dirty="0">
              <a:ln w="3175">
                <a:solidFill>
                  <a:schemeClr val="bg1"/>
                </a:solidFill>
              </a:ln>
            </a:endParaRPr>
          </a:p>
        </p:txBody>
      </p:sp>
      <p:cxnSp>
        <p:nvCxnSpPr>
          <p:cNvPr id="23" name="직선 연결선 22"/>
          <p:cNvCxnSpPr/>
          <p:nvPr/>
        </p:nvCxnSpPr>
        <p:spPr>
          <a:xfrm>
            <a:off x="182880" y="2575560"/>
            <a:ext cx="1168146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55600" y="5598649"/>
            <a:ext cx="529343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ln>
                  <a:solidFill>
                    <a:schemeClr val="bg1"/>
                  </a:solidFill>
                </a:ln>
              </a:rPr>
              <a:t>촘촘한 전국 유통망과 의약품 특화 물류</a:t>
            </a:r>
            <a:r>
              <a:rPr lang="en-US" altLang="ko-KR" sz="2400" b="1" dirty="0" smtClean="0">
                <a:ln>
                  <a:solidFill>
                    <a:schemeClr val="bg1"/>
                  </a:solidFill>
                </a:ln>
              </a:rPr>
              <a:t>, </a:t>
            </a:r>
          </a:p>
          <a:p>
            <a:r>
              <a:rPr lang="ko-KR" altLang="en-US" sz="2400" b="1" dirty="0" smtClean="0">
                <a:ln>
                  <a:solidFill>
                    <a:schemeClr val="bg1"/>
                  </a:solidFill>
                </a:ln>
              </a:rPr>
              <a:t>안정적인 </a:t>
            </a:r>
            <a:r>
              <a:rPr lang="ko-KR" altLang="en-US" sz="2400" b="1" dirty="0" err="1" smtClean="0">
                <a:ln>
                  <a:solidFill>
                    <a:schemeClr val="bg1"/>
                  </a:solidFill>
                </a:ln>
              </a:rPr>
              <a:t>공급망으로</a:t>
            </a:r>
            <a:r>
              <a:rPr lang="ko-KR" altLang="en-US" sz="2400" b="1" dirty="0" smtClean="0">
                <a:ln>
                  <a:solidFill>
                    <a:schemeClr val="bg1"/>
                  </a:solidFill>
                </a:ln>
              </a:rPr>
              <a:t> 더 넓게 연결하고</a:t>
            </a:r>
            <a:endParaRPr lang="en-US" altLang="ko-KR" sz="2400" b="1" dirty="0" smtClean="0">
              <a:ln>
                <a:solidFill>
                  <a:schemeClr val="bg1"/>
                </a:solidFill>
              </a:ln>
            </a:endParaRPr>
          </a:p>
          <a:p>
            <a:r>
              <a:rPr lang="ko-KR" altLang="en-US" sz="2400" b="1" dirty="0" smtClean="0">
                <a:ln>
                  <a:solidFill>
                    <a:schemeClr val="bg1"/>
                  </a:solidFill>
                </a:ln>
              </a:rPr>
              <a:t> 더 건강한 사회에 기여합니다</a:t>
            </a:r>
            <a:r>
              <a:rPr lang="en-US" altLang="ko-KR" sz="2400" b="1" dirty="0" smtClean="0">
                <a:ln>
                  <a:solidFill>
                    <a:schemeClr val="bg1"/>
                  </a:solidFill>
                </a:ln>
              </a:rPr>
              <a:t>.</a:t>
            </a:r>
            <a:endParaRPr lang="ko-KR" altLang="en-US" sz="24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25" name="모서리가 둥근 직사각형 24"/>
          <p:cNvSpPr/>
          <p:nvPr/>
        </p:nvSpPr>
        <p:spPr>
          <a:xfrm>
            <a:off x="2179358" y="5132832"/>
            <a:ext cx="1645920" cy="39014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dirty="0"/>
          </a:p>
        </p:txBody>
      </p:sp>
      <p:sp>
        <p:nvSpPr>
          <p:cNvPr id="26" name="TextBox 25"/>
          <p:cNvSpPr txBox="1"/>
          <p:nvPr/>
        </p:nvSpPr>
        <p:spPr>
          <a:xfrm>
            <a:off x="2514043" y="5189404"/>
            <a:ext cx="9733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ln>
                  <a:solidFill>
                    <a:schemeClr val="bg1"/>
                  </a:solidFill>
                </a:ln>
              </a:rPr>
              <a:t>Network</a:t>
            </a:r>
            <a:endParaRPr lang="ko-KR" altLang="en-US" sz="1400" b="1" dirty="0">
              <a:ln>
                <a:solidFill>
                  <a:schemeClr val="bg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2458606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/>
          <p:cNvSpPr txBox="1"/>
          <p:nvPr/>
        </p:nvSpPr>
        <p:spPr>
          <a:xfrm>
            <a:off x="355600" y="660889"/>
            <a:ext cx="58961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ln>
                  <a:solidFill>
                    <a:schemeClr val="bg1"/>
                  </a:solidFill>
                </a:ln>
              </a:rPr>
              <a:t>대한민국 </a:t>
            </a:r>
            <a:r>
              <a:rPr lang="ko-KR" altLang="en-US" sz="2400" b="1" dirty="0" err="1" smtClean="0">
                <a:ln>
                  <a:solidFill>
                    <a:schemeClr val="bg1"/>
                  </a:solidFill>
                </a:ln>
              </a:rPr>
              <a:t>헬스케어를</a:t>
            </a:r>
            <a:r>
              <a:rPr lang="ko-KR" altLang="en-US" sz="2400" b="1" dirty="0" smtClean="0">
                <a:ln>
                  <a:solidFill>
                    <a:schemeClr val="bg1"/>
                  </a:solidFill>
                </a:ln>
              </a:rPr>
              <a:t> 연결하는 유통 네트워크</a:t>
            </a:r>
          </a:p>
          <a:p>
            <a:r>
              <a:rPr lang="ko-KR" altLang="en-US" sz="2400" b="1" dirty="0" smtClean="0">
                <a:ln>
                  <a:solidFill>
                    <a:schemeClr val="bg1"/>
                  </a:solidFill>
                </a:ln>
              </a:rPr>
              <a:t>전국 어디든</a:t>
            </a:r>
            <a:r>
              <a:rPr lang="en-US" altLang="ko-KR" sz="2400" b="1" dirty="0" smtClean="0">
                <a:ln>
                  <a:solidFill>
                    <a:schemeClr val="bg1"/>
                  </a:solidFill>
                </a:ln>
              </a:rPr>
              <a:t>, </a:t>
            </a:r>
            <a:r>
              <a:rPr lang="ko-KR" altLang="en-US" sz="2400" b="1" dirty="0" smtClean="0">
                <a:ln>
                  <a:solidFill>
                    <a:schemeClr val="bg1"/>
                  </a:solidFill>
                </a:ln>
              </a:rPr>
              <a:t>끊김 없이 이어집니다</a:t>
            </a:r>
            <a:r>
              <a:rPr lang="en-US" altLang="ko-KR" sz="2400" b="1" dirty="0" smtClean="0">
                <a:ln>
                  <a:solidFill>
                    <a:schemeClr val="bg1"/>
                  </a:solidFill>
                </a:ln>
              </a:rPr>
              <a:t>.</a:t>
            </a:r>
            <a:endParaRPr lang="ko-KR" altLang="en-US" sz="24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25" name="모서리가 둥근 직사각형 24"/>
          <p:cNvSpPr/>
          <p:nvPr/>
        </p:nvSpPr>
        <p:spPr>
          <a:xfrm>
            <a:off x="2179358" y="195072"/>
            <a:ext cx="1645920" cy="39014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dirty="0"/>
          </a:p>
        </p:txBody>
      </p:sp>
      <p:sp>
        <p:nvSpPr>
          <p:cNvPr id="26" name="TextBox 25"/>
          <p:cNvSpPr txBox="1"/>
          <p:nvPr/>
        </p:nvSpPr>
        <p:spPr>
          <a:xfrm>
            <a:off x="2514043" y="251644"/>
            <a:ext cx="9733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ln>
                  <a:solidFill>
                    <a:schemeClr val="bg1"/>
                  </a:solidFill>
                </a:ln>
              </a:rPr>
              <a:t>Network</a:t>
            </a:r>
            <a:endParaRPr lang="ko-KR" altLang="en-US" sz="14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806844" y="1805580"/>
            <a:ext cx="4993678" cy="5052420"/>
          </a:xfrm>
          <a:prstGeom prst="roundRect">
            <a:avLst>
              <a:gd name="adj" fmla="val 10529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/>
              <a:t>지구본 </a:t>
            </a:r>
            <a:r>
              <a:rPr lang="en-US" altLang="ko-KR" sz="2000" dirty="0" smtClean="0"/>
              <a:t>-&gt; </a:t>
            </a:r>
            <a:r>
              <a:rPr lang="ko-KR" altLang="en-US" sz="2000" dirty="0" smtClean="0"/>
              <a:t>한국 확대 </a:t>
            </a:r>
            <a:r>
              <a:rPr lang="en-US" altLang="ko-KR" sz="2000" dirty="0" smtClean="0"/>
              <a:t>-&gt; </a:t>
            </a:r>
            <a:r>
              <a:rPr lang="ko-KR" altLang="en-US" sz="2000" dirty="0" smtClean="0"/>
              <a:t>한국 지도</a:t>
            </a:r>
            <a:endParaRPr lang="ko-KR" altLang="en-US" sz="2000" dirty="0"/>
          </a:p>
        </p:txBody>
      </p:sp>
      <p:sp>
        <p:nvSpPr>
          <p:cNvPr id="17" name="모서리가 둥근 직사각형 16"/>
          <p:cNvSpPr/>
          <p:nvPr/>
        </p:nvSpPr>
        <p:spPr>
          <a:xfrm>
            <a:off x="6251766" y="2191660"/>
            <a:ext cx="2769476" cy="2014580"/>
          </a:xfrm>
          <a:prstGeom prst="roundRect">
            <a:avLst>
              <a:gd name="adj" fmla="val 10529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/>
              <a:t>영업 지점 사진 </a:t>
            </a:r>
            <a:r>
              <a:rPr lang="ko-KR" altLang="en-US" sz="2000" dirty="0" err="1" smtClean="0"/>
              <a:t>번갈아가며</a:t>
            </a:r>
            <a:r>
              <a:rPr lang="ko-KR" altLang="en-US" sz="2000" dirty="0" smtClean="0"/>
              <a:t> 나오게</a:t>
            </a:r>
            <a:endParaRPr lang="ko-KR" altLang="en-US" sz="2000" dirty="0"/>
          </a:p>
        </p:txBody>
      </p:sp>
      <p:sp>
        <p:nvSpPr>
          <p:cNvPr id="18" name="모서리가 둥근 직사각형 17"/>
          <p:cNvSpPr/>
          <p:nvPr/>
        </p:nvSpPr>
        <p:spPr>
          <a:xfrm>
            <a:off x="9127046" y="2191660"/>
            <a:ext cx="2769476" cy="2014580"/>
          </a:xfrm>
          <a:prstGeom prst="roundRect">
            <a:avLst>
              <a:gd name="adj" fmla="val 10529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err="1" smtClean="0"/>
              <a:t>병의원</a:t>
            </a:r>
            <a:r>
              <a:rPr lang="ko-KR" altLang="en-US" sz="2000" dirty="0" smtClean="0"/>
              <a:t> </a:t>
            </a:r>
            <a:r>
              <a:rPr lang="ko-KR" altLang="en-US" sz="2000" dirty="0" err="1" smtClean="0"/>
              <a:t>유명한곳</a:t>
            </a:r>
            <a:r>
              <a:rPr lang="ko-KR" altLang="en-US" sz="2000" dirty="0" smtClean="0"/>
              <a:t> 사진 </a:t>
            </a:r>
            <a:r>
              <a:rPr lang="ko-KR" altLang="en-US" sz="2000" dirty="0" err="1" smtClean="0"/>
              <a:t>번갈아가면서</a:t>
            </a:r>
            <a:r>
              <a:rPr lang="ko-KR" altLang="en-US" sz="2000" dirty="0" smtClean="0"/>
              <a:t> 나오게</a:t>
            </a:r>
            <a:endParaRPr lang="ko-KR" altLang="en-US" sz="2000" dirty="0"/>
          </a:p>
        </p:txBody>
      </p:sp>
      <p:sp>
        <p:nvSpPr>
          <p:cNvPr id="19" name="모서리가 둥근 직사각형 18"/>
          <p:cNvSpPr/>
          <p:nvPr/>
        </p:nvSpPr>
        <p:spPr>
          <a:xfrm>
            <a:off x="6251766" y="4315100"/>
            <a:ext cx="2769476" cy="2014580"/>
          </a:xfrm>
          <a:prstGeom prst="roundRect">
            <a:avLst>
              <a:gd name="adj" fmla="val 10529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/>
              <a:t>배송차량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배송 기사님 사진 </a:t>
            </a:r>
            <a:r>
              <a:rPr lang="ko-KR" altLang="en-US" sz="2000" dirty="0" err="1" smtClean="0"/>
              <a:t>번갈아가며</a:t>
            </a:r>
            <a:r>
              <a:rPr lang="ko-KR" altLang="en-US" sz="2000" dirty="0" smtClean="0"/>
              <a:t> 나오게</a:t>
            </a:r>
            <a:endParaRPr lang="ko-KR" altLang="en-US" sz="2000" dirty="0"/>
          </a:p>
        </p:txBody>
      </p:sp>
      <p:sp>
        <p:nvSpPr>
          <p:cNvPr id="20" name="모서리가 둥근 직사각형 19"/>
          <p:cNvSpPr/>
          <p:nvPr/>
        </p:nvSpPr>
        <p:spPr>
          <a:xfrm>
            <a:off x="9127046" y="4315100"/>
            <a:ext cx="2769476" cy="2014580"/>
          </a:xfrm>
          <a:prstGeom prst="roundRect">
            <a:avLst>
              <a:gd name="adj" fmla="val 10529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/>
              <a:t>물류센터 사진 </a:t>
            </a:r>
            <a:r>
              <a:rPr lang="ko-KR" altLang="en-US" sz="2000" dirty="0" err="1" smtClean="0"/>
              <a:t>번갈아가며</a:t>
            </a:r>
            <a:r>
              <a:rPr lang="ko-KR" altLang="en-US" sz="2000" dirty="0" smtClean="0"/>
              <a:t> 나오게</a:t>
            </a:r>
            <a:endParaRPr lang="ko-KR" altLang="en-US" sz="2000" dirty="0"/>
          </a:p>
        </p:txBody>
      </p:sp>
      <p:sp>
        <p:nvSpPr>
          <p:cNvPr id="21" name="직사각형 20"/>
          <p:cNvSpPr/>
          <p:nvPr/>
        </p:nvSpPr>
        <p:spPr>
          <a:xfrm>
            <a:off x="6902166" y="2334337"/>
            <a:ext cx="146867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0" b="1" dirty="0" smtClean="0">
                <a:ln w="3175">
                  <a:solidFill>
                    <a:schemeClr val="bg1"/>
                  </a:solidFill>
                </a:ln>
              </a:rPr>
              <a:t>19</a:t>
            </a:r>
            <a:endParaRPr lang="ko-KR" altLang="en-US" sz="8000" b="1" dirty="0">
              <a:ln w="3175">
                <a:solidFill>
                  <a:schemeClr val="bg1"/>
                </a:solidFill>
              </a:ln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6085956" y="3665432"/>
            <a:ext cx="31010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 smtClean="0">
                <a:ln w="3175">
                  <a:solidFill>
                    <a:schemeClr val="bg1"/>
                  </a:solidFill>
                </a:ln>
              </a:rPr>
              <a:t>전국 영업 지점</a:t>
            </a:r>
            <a:endParaRPr lang="ko-KR" altLang="en-US" sz="2000" b="1" dirty="0">
              <a:ln w="3175">
                <a:solidFill>
                  <a:schemeClr val="bg1"/>
                </a:solidFill>
              </a:ln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9127046" y="2584877"/>
            <a:ext cx="28294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b="1" dirty="0" smtClean="0">
                <a:ln w="3175">
                  <a:solidFill>
                    <a:schemeClr val="bg1"/>
                  </a:solidFill>
                </a:ln>
              </a:rPr>
              <a:t>20,000+</a:t>
            </a:r>
            <a:endParaRPr lang="ko-KR" altLang="en-US" sz="4800" b="1" dirty="0">
              <a:ln w="3175">
                <a:solidFill>
                  <a:schemeClr val="bg1"/>
                </a:solidFill>
              </a:ln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8991239" y="3665432"/>
            <a:ext cx="31010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 err="1" smtClean="0">
                <a:ln w="3175">
                  <a:solidFill>
                    <a:schemeClr val="bg1"/>
                  </a:solidFill>
                </a:ln>
              </a:rPr>
              <a:t>병의원</a:t>
            </a:r>
            <a:r>
              <a:rPr lang="ko-KR" altLang="en-US" sz="2000" b="1" dirty="0" smtClean="0">
                <a:ln w="3175">
                  <a:solidFill>
                    <a:schemeClr val="bg1"/>
                  </a:solidFill>
                </a:ln>
              </a:rPr>
              <a:t> 및 약국네트워크</a:t>
            </a:r>
            <a:endParaRPr lang="ko-KR" altLang="en-US" sz="2000" b="1" dirty="0">
              <a:ln w="3175">
                <a:solidFill>
                  <a:schemeClr val="bg1"/>
                </a:solidFill>
              </a:ln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6354147" y="4469828"/>
            <a:ext cx="25647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0" b="1" dirty="0" smtClean="0">
                <a:ln w="3175">
                  <a:solidFill>
                    <a:schemeClr val="bg1"/>
                  </a:solidFill>
                </a:ln>
              </a:rPr>
              <a:t>1Day</a:t>
            </a:r>
            <a:endParaRPr lang="ko-KR" altLang="en-US" sz="5400" b="1" dirty="0">
              <a:ln w="3175">
                <a:solidFill>
                  <a:schemeClr val="bg1"/>
                </a:solidFill>
              </a:ln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6085956" y="5800923"/>
            <a:ext cx="31010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 smtClean="0">
                <a:ln w="3175">
                  <a:solidFill>
                    <a:schemeClr val="bg1"/>
                  </a:solidFill>
                </a:ln>
              </a:rPr>
              <a:t>전국 도서산간 배송 체계</a:t>
            </a:r>
            <a:endParaRPr lang="ko-KR" altLang="en-US" sz="2000" b="1" dirty="0">
              <a:ln w="3175">
                <a:solidFill>
                  <a:schemeClr val="bg1"/>
                </a:solidFill>
              </a:ln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9807449" y="4469828"/>
            <a:ext cx="146867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0" b="1" dirty="0" smtClean="0">
                <a:ln w="3175">
                  <a:solidFill>
                    <a:schemeClr val="bg1"/>
                  </a:solidFill>
                </a:ln>
              </a:rPr>
              <a:t>10</a:t>
            </a:r>
            <a:endParaRPr lang="ko-KR" altLang="en-US" sz="8000" b="1" dirty="0">
              <a:ln w="3175">
                <a:solidFill>
                  <a:schemeClr val="bg1"/>
                </a:solidFill>
              </a:ln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8991239" y="5800923"/>
            <a:ext cx="31010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 smtClean="0">
                <a:ln w="3175">
                  <a:solidFill>
                    <a:schemeClr val="bg1"/>
                  </a:solidFill>
                </a:ln>
              </a:rPr>
              <a:t>전국 물류센터</a:t>
            </a:r>
            <a:endParaRPr lang="ko-KR" altLang="en-US" sz="2000" b="1" dirty="0">
              <a:ln w="3175">
                <a:solidFill>
                  <a:schemeClr val="bg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5066070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모서리가 둥근 직사각형 12"/>
          <p:cNvSpPr/>
          <p:nvPr/>
        </p:nvSpPr>
        <p:spPr>
          <a:xfrm>
            <a:off x="806844" y="0"/>
            <a:ext cx="4993678" cy="1696720"/>
          </a:xfrm>
          <a:prstGeom prst="roundRect">
            <a:avLst>
              <a:gd name="adj" fmla="val 10529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/>
              <a:t>지구본 </a:t>
            </a:r>
            <a:r>
              <a:rPr lang="en-US" altLang="ko-KR" sz="2000" dirty="0" smtClean="0"/>
              <a:t>-&gt; </a:t>
            </a:r>
            <a:r>
              <a:rPr lang="ko-KR" altLang="en-US" sz="2000" dirty="0" smtClean="0"/>
              <a:t>한국 확대 </a:t>
            </a:r>
            <a:r>
              <a:rPr lang="en-US" altLang="ko-KR" sz="2000" dirty="0" smtClean="0"/>
              <a:t>-&gt; </a:t>
            </a:r>
            <a:r>
              <a:rPr lang="ko-KR" altLang="en-US" sz="2000" dirty="0" smtClean="0"/>
              <a:t>한국 지도</a:t>
            </a:r>
            <a:endParaRPr lang="ko-KR" altLang="en-US" sz="2000" dirty="0"/>
          </a:p>
        </p:txBody>
      </p:sp>
      <p:sp>
        <p:nvSpPr>
          <p:cNvPr id="19" name="모서리가 둥근 직사각형 18"/>
          <p:cNvSpPr/>
          <p:nvPr/>
        </p:nvSpPr>
        <p:spPr>
          <a:xfrm>
            <a:off x="6251766" y="0"/>
            <a:ext cx="2769476" cy="1168400"/>
          </a:xfrm>
          <a:prstGeom prst="roundRect">
            <a:avLst>
              <a:gd name="adj" fmla="val 10529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/>
              <a:t>배송차량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배송 기사님 사진 </a:t>
            </a:r>
            <a:r>
              <a:rPr lang="ko-KR" altLang="en-US" sz="2000" dirty="0" err="1" smtClean="0"/>
              <a:t>번갈아가며</a:t>
            </a:r>
            <a:r>
              <a:rPr lang="ko-KR" altLang="en-US" sz="2000" dirty="0" smtClean="0"/>
              <a:t> 나오게</a:t>
            </a:r>
            <a:endParaRPr lang="ko-KR" altLang="en-US" sz="2000" dirty="0"/>
          </a:p>
        </p:txBody>
      </p:sp>
      <p:sp>
        <p:nvSpPr>
          <p:cNvPr id="20" name="모서리가 둥근 직사각형 19"/>
          <p:cNvSpPr/>
          <p:nvPr/>
        </p:nvSpPr>
        <p:spPr>
          <a:xfrm>
            <a:off x="9127046" y="0"/>
            <a:ext cx="2769476" cy="1168400"/>
          </a:xfrm>
          <a:prstGeom prst="roundRect">
            <a:avLst>
              <a:gd name="adj" fmla="val 10529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/>
              <a:t>물류센터 사진 </a:t>
            </a:r>
            <a:r>
              <a:rPr lang="ko-KR" altLang="en-US" sz="2000" dirty="0" err="1" smtClean="0"/>
              <a:t>번갈아가며</a:t>
            </a:r>
            <a:r>
              <a:rPr lang="ko-KR" altLang="en-US" sz="2000" dirty="0" smtClean="0"/>
              <a:t> 나오게</a:t>
            </a:r>
            <a:endParaRPr lang="ko-KR" altLang="en-US" sz="2000" dirty="0"/>
          </a:p>
        </p:txBody>
      </p:sp>
      <p:sp>
        <p:nvSpPr>
          <p:cNvPr id="16" name="직사각형 15"/>
          <p:cNvSpPr/>
          <p:nvPr/>
        </p:nvSpPr>
        <p:spPr>
          <a:xfrm>
            <a:off x="6085956" y="639643"/>
            <a:ext cx="31010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 smtClean="0">
                <a:ln w="3175">
                  <a:solidFill>
                    <a:schemeClr val="bg1"/>
                  </a:solidFill>
                </a:ln>
              </a:rPr>
              <a:t>전국 도서산간 배송 체계</a:t>
            </a:r>
            <a:endParaRPr lang="ko-KR" altLang="en-US" sz="2000" b="1" dirty="0">
              <a:ln w="3175">
                <a:solidFill>
                  <a:schemeClr val="bg1"/>
                </a:solidFill>
              </a:ln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8991239" y="639643"/>
            <a:ext cx="31010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 smtClean="0">
                <a:ln w="3175">
                  <a:solidFill>
                    <a:schemeClr val="bg1"/>
                  </a:solidFill>
                </a:ln>
              </a:rPr>
              <a:t>전국 물류센터</a:t>
            </a:r>
            <a:endParaRPr lang="ko-KR" altLang="en-US" sz="2000" b="1" dirty="0">
              <a:ln w="3175">
                <a:solidFill>
                  <a:schemeClr val="bg1"/>
                </a:solidFill>
              </a:ln>
            </a:endParaRPr>
          </a:p>
        </p:txBody>
      </p:sp>
      <p:sp>
        <p:nvSpPr>
          <p:cNvPr id="28" name="모서리가 둥근 직사각형 27"/>
          <p:cNvSpPr/>
          <p:nvPr/>
        </p:nvSpPr>
        <p:spPr>
          <a:xfrm>
            <a:off x="3210676" y="2997200"/>
            <a:ext cx="2769476" cy="1168400"/>
          </a:xfrm>
          <a:prstGeom prst="roundRect">
            <a:avLst>
              <a:gd name="adj" fmla="val 10529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>
                <a:solidFill>
                  <a:srgbClr val="FF0000"/>
                </a:solidFill>
              </a:rPr>
              <a:t>약국 </a:t>
            </a:r>
            <a:r>
              <a:rPr lang="ko-KR" altLang="en-US" sz="2000" dirty="0" err="1" smtClean="0">
                <a:solidFill>
                  <a:srgbClr val="FF0000"/>
                </a:solidFill>
              </a:rPr>
              <a:t>웹주문페이지</a:t>
            </a:r>
            <a:endParaRPr lang="en-US" altLang="ko-KR" sz="2000" dirty="0">
              <a:solidFill>
                <a:srgbClr val="FF0000"/>
              </a:solidFill>
            </a:endParaRPr>
          </a:p>
          <a:p>
            <a:pPr algn="ctr"/>
            <a:r>
              <a:rPr lang="ko-KR" altLang="en-US" sz="2000" dirty="0" err="1" smtClean="0">
                <a:solidFill>
                  <a:srgbClr val="FF0000"/>
                </a:solidFill>
              </a:rPr>
              <a:t>바로가기</a:t>
            </a:r>
            <a:r>
              <a:rPr lang="ko-KR" altLang="en-US" sz="2000" dirty="0" smtClean="0">
                <a:solidFill>
                  <a:srgbClr val="FF0000"/>
                </a:solidFill>
              </a:rPr>
              <a:t> </a:t>
            </a:r>
            <a:endParaRPr lang="ko-KR" altLang="en-US" sz="2000" dirty="0">
              <a:solidFill>
                <a:srgbClr val="FF0000"/>
              </a:solidFill>
            </a:endParaRPr>
          </a:p>
        </p:txBody>
      </p:sp>
      <p:sp>
        <p:nvSpPr>
          <p:cNvPr id="29" name="모서리가 둥근 직사각형 28"/>
          <p:cNvSpPr/>
          <p:nvPr/>
        </p:nvSpPr>
        <p:spPr>
          <a:xfrm>
            <a:off x="6085956" y="2997200"/>
            <a:ext cx="2769476" cy="1168400"/>
          </a:xfrm>
          <a:prstGeom prst="roundRect">
            <a:avLst>
              <a:gd name="adj" fmla="val 10529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err="1" smtClean="0">
                <a:solidFill>
                  <a:srgbClr val="FF0000"/>
                </a:solidFill>
              </a:rPr>
              <a:t>병원몰</a:t>
            </a:r>
            <a:endParaRPr lang="en-US" altLang="ko-KR" sz="2000" dirty="0">
              <a:solidFill>
                <a:srgbClr val="FF0000"/>
              </a:solidFill>
            </a:endParaRPr>
          </a:p>
          <a:p>
            <a:pPr algn="ctr"/>
            <a:r>
              <a:rPr lang="ko-KR" altLang="en-US" sz="2000" dirty="0" err="1" smtClean="0">
                <a:solidFill>
                  <a:srgbClr val="FF0000"/>
                </a:solidFill>
              </a:rPr>
              <a:t>바로가기</a:t>
            </a:r>
            <a:endParaRPr lang="ko-KR" altLang="en-US" sz="2000" dirty="0">
              <a:solidFill>
                <a:srgbClr val="FF000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5802"/>
            <a:ext cx="12192000" cy="450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7285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/>
          <p:cNvSpPr/>
          <p:nvPr/>
        </p:nvSpPr>
        <p:spPr>
          <a:xfrm>
            <a:off x="0" y="0"/>
            <a:ext cx="1503680" cy="433491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/>
              <a:t>로고</a:t>
            </a:r>
            <a:endParaRPr lang="ko-KR" altLang="en-US" sz="2000" dirty="0"/>
          </a:p>
        </p:txBody>
      </p:sp>
      <p:sp>
        <p:nvSpPr>
          <p:cNvPr id="32" name="TextBox 31"/>
          <p:cNvSpPr txBox="1"/>
          <p:nvPr/>
        </p:nvSpPr>
        <p:spPr>
          <a:xfrm>
            <a:off x="1562100" y="15240"/>
            <a:ext cx="11272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smtClean="0">
                <a:ln>
                  <a:solidFill>
                    <a:schemeClr val="bg1"/>
                  </a:solidFill>
                </a:ln>
              </a:rPr>
              <a:t>백제약품</a:t>
            </a:r>
            <a:endParaRPr lang="ko-KR" altLang="en-US" sz="20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05684" y="58176"/>
            <a:ext cx="93968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dirty="0" smtClean="0">
                <a:ln>
                  <a:solidFill>
                    <a:schemeClr val="bg1"/>
                  </a:solidFill>
                </a:ln>
              </a:rPr>
              <a:t>회사 소개</a:t>
            </a:r>
            <a:endParaRPr lang="ko-KR" altLang="en-US" sz="15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596047" y="58176"/>
            <a:ext cx="111601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dirty="0" smtClean="0">
                <a:ln>
                  <a:solidFill>
                    <a:schemeClr val="bg1"/>
                  </a:solidFill>
                </a:ln>
              </a:rPr>
              <a:t>물류 서비스</a:t>
            </a:r>
            <a:endParaRPr lang="ko-KR" altLang="en-US" sz="15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898006" y="58176"/>
            <a:ext cx="93487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 smtClean="0">
                <a:ln>
                  <a:solidFill>
                    <a:schemeClr val="bg1"/>
                  </a:solidFill>
                </a:ln>
              </a:rPr>
              <a:t>Contact</a:t>
            </a:r>
            <a:endParaRPr lang="ko-KR" altLang="en-US" sz="15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595953" y="1466235"/>
            <a:ext cx="700009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0" b="1" dirty="0" smtClean="0">
                <a:ln w="3175">
                  <a:solidFill>
                    <a:schemeClr val="bg1"/>
                  </a:solidFill>
                </a:ln>
              </a:rPr>
              <a:t>백제약품</a:t>
            </a:r>
            <a:endParaRPr lang="ko-KR" altLang="en-US" sz="8000" b="1" dirty="0">
              <a:ln w="3175">
                <a:solidFill>
                  <a:schemeClr val="bg1"/>
                </a:solidFill>
              </a:ln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921894" y="3009562"/>
            <a:ext cx="6348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b="1" dirty="0">
                <a:ln>
                  <a:solidFill>
                    <a:schemeClr val="bg1"/>
                  </a:solidFill>
                </a:ln>
              </a:rPr>
              <a:t>의약품 유통의 기준을 만들어가는 기업</a:t>
            </a:r>
            <a:r>
              <a:rPr lang="en-US" altLang="ko-KR" sz="2400" b="1" dirty="0">
                <a:ln>
                  <a:solidFill>
                    <a:schemeClr val="bg1"/>
                  </a:solidFill>
                </a:ln>
              </a:rPr>
              <a:t>, </a:t>
            </a:r>
            <a:r>
              <a:rPr lang="ko-KR" altLang="en-US" sz="2400" b="1" dirty="0">
                <a:ln>
                  <a:solidFill>
                    <a:schemeClr val="bg1"/>
                  </a:solidFill>
                </a:ln>
              </a:rPr>
              <a:t>백제약품</a:t>
            </a:r>
          </a:p>
        </p:txBody>
      </p:sp>
      <p:sp>
        <p:nvSpPr>
          <p:cNvPr id="38" name="모서리가 둥근 직사각형 37"/>
          <p:cNvSpPr/>
          <p:nvPr/>
        </p:nvSpPr>
        <p:spPr>
          <a:xfrm>
            <a:off x="850977" y="4965538"/>
            <a:ext cx="10490047" cy="1892461"/>
          </a:xfrm>
          <a:prstGeom prst="roundRect">
            <a:avLst>
              <a:gd name="adj" fmla="val 10529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/>
              <a:t>회사 사진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8287487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/>
          <p:cNvSpPr/>
          <p:nvPr/>
        </p:nvSpPr>
        <p:spPr>
          <a:xfrm>
            <a:off x="0" y="0"/>
            <a:ext cx="1503680" cy="433491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/>
              <a:t>로고</a:t>
            </a:r>
            <a:endParaRPr lang="ko-KR" altLang="en-US" sz="2000" dirty="0"/>
          </a:p>
        </p:txBody>
      </p:sp>
      <p:sp>
        <p:nvSpPr>
          <p:cNvPr id="32" name="TextBox 31"/>
          <p:cNvSpPr txBox="1"/>
          <p:nvPr/>
        </p:nvSpPr>
        <p:spPr>
          <a:xfrm>
            <a:off x="1562100" y="15240"/>
            <a:ext cx="11272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smtClean="0">
                <a:ln>
                  <a:solidFill>
                    <a:schemeClr val="bg1"/>
                  </a:solidFill>
                </a:ln>
              </a:rPr>
              <a:t>백제약품</a:t>
            </a:r>
            <a:endParaRPr lang="ko-KR" altLang="en-US" sz="20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05684" y="58176"/>
            <a:ext cx="93968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dirty="0" smtClean="0">
                <a:ln>
                  <a:solidFill>
                    <a:schemeClr val="bg1"/>
                  </a:solidFill>
                </a:ln>
              </a:rPr>
              <a:t>회사 소개</a:t>
            </a:r>
            <a:endParaRPr lang="ko-KR" altLang="en-US" sz="15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596047" y="58176"/>
            <a:ext cx="111601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dirty="0" smtClean="0">
                <a:ln>
                  <a:solidFill>
                    <a:schemeClr val="bg1"/>
                  </a:solidFill>
                </a:ln>
              </a:rPr>
              <a:t>물류 서비스</a:t>
            </a:r>
            <a:endParaRPr lang="ko-KR" altLang="en-US" sz="15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898006" y="58176"/>
            <a:ext cx="93487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 smtClean="0">
                <a:ln>
                  <a:solidFill>
                    <a:schemeClr val="bg1"/>
                  </a:solidFill>
                </a:ln>
              </a:rPr>
              <a:t>Contact</a:t>
            </a:r>
            <a:endParaRPr lang="ko-KR" altLang="en-US" sz="15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8" name="모서리가 둥근 직사각형 37"/>
          <p:cNvSpPr/>
          <p:nvPr/>
        </p:nvSpPr>
        <p:spPr>
          <a:xfrm>
            <a:off x="0" y="433492"/>
            <a:ext cx="12191999" cy="6424508"/>
          </a:xfrm>
          <a:prstGeom prst="roundRect">
            <a:avLst>
              <a:gd name="adj" fmla="val 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/>
              <a:t>회사 사진</a:t>
            </a:r>
            <a:endParaRPr lang="ko-KR" altLang="en-US" sz="2000" dirty="0"/>
          </a:p>
        </p:txBody>
      </p:sp>
      <p:sp>
        <p:nvSpPr>
          <p:cNvPr id="10" name="직사각형 9"/>
          <p:cNvSpPr/>
          <p:nvPr/>
        </p:nvSpPr>
        <p:spPr>
          <a:xfrm>
            <a:off x="165270" y="4880766"/>
            <a:ext cx="700009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0" b="1" dirty="0" smtClean="0">
                <a:ln w="3175">
                  <a:solidFill>
                    <a:schemeClr val="bg1"/>
                  </a:solidFill>
                </a:ln>
              </a:rPr>
              <a:t>백제약품</a:t>
            </a:r>
            <a:endParaRPr lang="ko-KR" altLang="en-US" sz="6000" b="1" dirty="0">
              <a:ln w="3175">
                <a:solidFill>
                  <a:schemeClr val="bg1"/>
                </a:solidFill>
              </a:ln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65270" y="5926379"/>
            <a:ext cx="764824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ln>
                  <a:solidFill>
                    <a:schemeClr val="bg1"/>
                  </a:solidFill>
                </a:ln>
              </a:rPr>
              <a:t>1946</a:t>
            </a:r>
            <a:r>
              <a:rPr lang="ko-KR" altLang="en-US" sz="2000" b="1" dirty="0">
                <a:ln>
                  <a:solidFill>
                    <a:schemeClr val="bg1"/>
                  </a:solidFill>
                </a:ln>
              </a:rPr>
              <a:t>년 설립 이후 축적해온 경험과 전국 단위 물류 인프라를 기반으로</a:t>
            </a:r>
            <a:r>
              <a:rPr lang="en-US" altLang="ko-KR" sz="2000" b="1" dirty="0">
                <a:ln>
                  <a:solidFill>
                    <a:schemeClr val="bg1"/>
                  </a:solidFill>
                </a:ln>
              </a:rPr>
              <a:t>, </a:t>
            </a:r>
            <a:endParaRPr lang="en-US" altLang="ko-KR" sz="2000" b="1" dirty="0" smtClean="0">
              <a:ln>
                <a:solidFill>
                  <a:schemeClr val="bg1"/>
                </a:solidFill>
              </a:ln>
            </a:endParaRPr>
          </a:p>
          <a:p>
            <a:r>
              <a:rPr lang="ko-KR" altLang="en-US" sz="2000" b="1" dirty="0" smtClean="0">
                <a:ln>
                  <a:solidFill>
                    <a:schemeClr val="bg1"/>
                  </a:solidFill>
                </a:ln>
              </a:rPr>
              <a:t>의약품 </a:t>
            </a:r>
            <a:r>
              <a:rPr lang="ko-KR" altLang="en-US" sz="2000" b="1" dirty="0">
                <a:ln>
                  <a:solidFill>
                    <a:schemeClr val="bg1"/>
                  </a:solidFill>
                </a:ln>
              </a:rPr>
              <a:t>유통 전반에서 안정적이고 효율적인 서비스를 제공합니다</a:t>
            </a:r>
            <a:r>
              <a:rPr lang="en-US" altLang="ko-KR" sz="2000" b="1" dirty="0">
                <a:ln>
                  <a:solidFill>
                    <a:schemeClr val="bg1"/>
                  </a:solidFill>
                </a:ln>
              </a:rPr>
              <a:t>.</a:t>
            </a:r>
            <a:endParaRPr lang="ko-KR" altLang="en-US" sz="2000" b="1" dirty="0">
              <a:ln>
                <a:solidFill>
                  <a:schemeClr val="bg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9807657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모서리가 둥근 직사각형 37"/>
          <p:cNvSpPr/>
          <p:nvPr/>
        </p:nvSpPr>
        <p:spPr>
          <a:xfrm>
            <a:off x="266937" y="1274335"/>
            <a:ext cx="2590326" cy="5217762"/>
          </a:xfrm>
          <a:prstGeom prst="roundRect">
            <a:avLst>
              <a:gd name="adj" fmla="val 86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/>
              <a:t>옛날 사진</a:t>
            </a:r>
            <a:endParaRPr lang="ko-KR" altLang="en-US" sz="2000" dirty="0"/>
          </a:p>
        </p:txBody>
      </p:sp>
      <p:sp>
        <p:nvSpPr>
          <p:cNvPr id="31" name="직사각형 30"/>
          <p:cNvSpPr/>
          <p:nvPr/>
        </p:nvSpPr>
        <p:spPr>
          <a:xfrm>
            <a:off x="0" y="0"/>
            <a:ext cx="1503680" cy="433491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/>
              <a:t>로고</a:t>
            </a:r>
            <a:endParaRPr lang="ko-KR" altLang="en-US" sz="2000" dirty="0"/>
          </a:p>
        </p:txBody>
      </p:sp>
      <p:sp>
        <p:nvSpPr>
          <p:cNvPr id="32" name="TextBox 31"/>
          <p:cNvSpPr txBox="1"/>
          <p:nvPr/>
        </p:nvSpPr>
        <p:spPr>
          <a:xfrm>
            <a:off x="1562100" y="15240"/>
            <a:ext cx="11272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smtClean="0">
                <a:ln>
                  <a:solidFill>
                    <a:schemeClr val="bg1"/>
                  </a:solidFill>
                </a:ln>
              </a:rPr>
              <a:t>백제약품</a:t>
            </a:r>
            <a:endParaRPr lang="ko-KR" altLang="en-US" sz="20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05684" y="58176"/>
            <a:ext cx="93968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dirty="0" smtClean="0">
                <a:ln>
                  <a:solidFill>
                    <a:schemeClr val="bg1"/>
                  </a:solidFill>
                </a:ln>
              </a:rPr>
              <a:t>회사 소개</a:t>
            </a:r>
            <a:endParaRPr lang="ko-KR" altLang="en-US" sz="15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596047" y="58176"/>
            <a:ext cx="111601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dirty="0" smtClean="0">
                <a:ln>
                  <a:solidFill>
                    <a:schemeClr val="bg1"/>
                  </a:solidFill>
                </a:ln>
              </a:rPr>
              <a:t>물류 서비스</a:t>
            </a:r>
            <a:endParaRPr lang="ko-KR" altLang="en-US" sz="15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898006" y="58176"/>
            <a:ext cx="93487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 smtClean="0">
                <a:ln>
                  <a:solidFill>
                    <a:schemeClr val="bg1"/>
                  </a:solidFill>
                </a:ln>
              </a:rPr>
              <a:t>Contact</a:t>
            </a:r>
            <a:endParaRPr lang="ko-KR" altLang="en-US" sz="15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03804" y="5735560"/>
            <a:ext cx="9412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 smtClean="0">
                <a:ln>
                  <a:solidFill>
                    <a:schemeClr val="bg1"/>
                  </a:solidFill>
                </a:ln>
              </a:rPr>
              <a:t>설립</a:t>
            </a:r>
            <a:endParaRPr lang="ko-KR" altLang="en-US" sz="32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43" name="모서리가 둥근 직사각형 42"/>
          <p:cNvSpPr/>
          <p:nvPr/>
        </p:nvSpPr>
        <p:spPr>
          <a:xfrm>
            <a:off x="2533593" y="1274335"/>
            <a:ext cx="2590326" cy="5217762"/>
          </a:xfrm>
          <a:prstGeom prst="roundRect">
            <a:avLst>
              <a:gd name="adj" fmla="val 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/>
              <a:t>옛날 임직원 사진</a:t>
            </a:r>
            <a:endParaRPr lang="ko-KR" altLang="en-US" sz="2000" dirty="0"/>
          </a:p>
        </p:txBody>
      </p:sp>
      <p:sp>
        <p:nvSpPr>
          <p:cNvPr id="44" name="TextBox 43"/>
          <p:cNvSpPr txBox="1"/>
          <p:nvPr/>
        </p:nvSpPr>
        <p:spPr>
          <a:xfrm>
            <a:off x="2670460" y="5735560"/>
            <a:ext cx="13195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 smtClean="0">
                <a:ln>
                  <a:solidFill>
                    <a:schemeClr val="bg1"/>
                  </a:solidFill>
                </a:ln>
              </a:rPr>
              <a:t>임직원</a:t>
            </a:r>
            <a:endParaRPr lang="ko-KR" altLang="en-US" sz="32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45" name="모서리가 둥근 직사각형 44"/>
          <p:cNvSpPr/>
          <p:nvPr/>
        </p:nvSpPr>
        <p:spPr>
          <a:xfrm>
            <a:off x="4800249" y="1274335"/>
            <a:ext cx="2590326" cy="5217762"/>
          </a:xfrm>
          <a:prstGeom prst="roundRect">
            <a:avLst>
              <a:gd name="adj" fmla="val 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/>
              <a:t>물류센터 사진</a:t>
            </a:r>
            <a:endParaRPr lang="ko-KR" altLang="en-US" sz="2000" dirty="0"/>
          </a:p>
        </p:txBody>
      </p:sp>
      <p:sp>
        <p:nvSpPr>
          <p:cNvPr id="46" name="TextBox 45"/>
          <p:cNvSpPr txBox="1"/>
          <p:nvPr/>
        </p:nvSpPr>
        <p:spPr>
          <a:xfrm>
            <a:off x="4937116" y="5735560"/>
            <a:ext cx="16979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 smtClean="0">
                <a:ln>
                  <a:solidFill>
                    <a:schemeClr val="bg1"/>
                  </a:solidFill>
                </a:ln>
              </a:rPr>
              <a:t>네트워크</a:t>
            </a:r>
            <a:endParaRPr lang="ko-KR" altLang="en-US" sz="32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47" name="모서리가 둥근 직사각형 46"/>
          <p:cNvSpPr/>
          <p:nvPr/>
        </p:nvSpPr>
        <p:spPr>
          <a:xfrm>
            <a:off x="7066905" y="1274335"/>
            <a:ext cx="2590326" cy="5217762"/>
          </a:xfrm>
          <a:prstGeom prst="roundRect">
            <a:avLst>
              <a:gd name="adj" fmla="val 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dirty="0"/>
          </a:p>
        </p:txBody>
      </p:sp>
      <p:sp>
        <p:nvSpPr>
          <p:cNvPr id="48" name="TextBox 47"/>
          <p:cNvSpPr txBox="1"/>
          <p:nvPr/>
        </p:nvSpPr>
        <p:spPr>
          <a:xfrm>
            <a:off x="7203772" y="5735560"/>
            <a:ext cx="16979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 err="1" smtClean="0">
                <a:ln>
                  <a:solidFill>
                    <a:schemeClr val="bg1"/>
                  </a:solidFill>
                </a:ln>
              </a:rPr>
              <a:t>파트너사</a:t>
            </a:r>
            <a:endParaRPr lang="ko-KR" altLang="en-US" sz="32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49" name="모서리가 둥근 직사각형 48"/>
          <p:cNvSpPr/>
          <p:nvPr/>
        </p:nvSpPr>
        <p:spPr>
          <a:xfrm>
            <a:off x="9333561" y="1274335"/>
            <a:ext cx="2590326" cy="5217762"/>
          </a:xfrm>
          <a:prstGeom prst="roundRect">
            <a:avLst>
              <a:gd name="adj" fmla="val 8521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/>
              <a:t>배송차량 사진</a:t>
            </a:r>
            <a:endParaRPr lang="ko-KR" altLang="en-US" sz="2000" dirty="0"/>
          </a:p>
        </p:txBody>
      </p:sp>
      <p:sp>
        <p:nvSpPr>
          <p:cNvPr id="50" name="TextBox 49"/>
          <p:cNvSpPr txBox="1"/>
          <p:nvPr/>
        </p:nvSpPr>
        <p:spPr>
          <a:xfrm>
            <a:off x="9470428" y="5735560"/>
            <a:ext cx="21836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 smtClean="0">
                <a:ln>
                  <a:solidFill>
                    <a:schemeClr val="bg1"/>
                  </a:solidFill>
                </a:ln>
              </a:rPr>
              <a:t>물류 인프라</a:t>
            </a:r>
            <a:endParaRPr lang="ko-KR" altLang="en-US" sz="3200" b="1" dirty="0">
              <a:ln>
                <a:solidFill>
                  <a:schemeClr val="bg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030550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모서리가 둥근 직사각형 37"/>
          <p:cNvSpPr/>
          <p:nvPr/>
        </p:nvSpPr>
        <p:spPr>
          <a:xfrm>
            <a:off x="266937" y="1274335"/>
            <a:ext cx="6183186" cy="5217762"/>
          </a:xfrm>
          <a:prstGeom prst="roundRect">
            <a:avLst>
              <a:gd name="adj" fmla="val 2859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/>
              <a:t>옛날 사진</a:t>
            </a:r>
            <a:endParaRPr lang="ko-KR" altLang="en-US" sz="2000" dirty="0"/>
          </a:p>
        </p:txBody>
      </p:sp>
      <p:sp>
        <p:nvSpPr>
          <p:cNvPr id="31" name="직사각형 30"/>
          <p:cNvSpPr/>
          <p:nvPr/>
        </p:nvSpPr>
        <p:spPr>
          <a:xfrm>
            <a:off x="0" y="0"/>
            <a:ext cx="1503680" cy="433491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/>
              <a:t>로고</a:t>
            </a:r>
            <a:endParaRPr lang="ko-KR" altLang="en-US" sz="2000" dirty="0"/>
          </a:p>
        </p:txBody>
      </p:sp>
      <p:sp>
        <p:nvSpPr>
          <p:cNvPr id="32" name="TextBox 31"/>
          <p:cNvSpPr txBox="1"/>
          <p:nvPr/>
        </p:nvSpPr>
        <p:spPr>
          <a:xfrm>
            <a:off x="1562100" y="15240"/>
            <a:ext cx="11272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smtClean="0">
                <a:ln>
                  <a:solidFill>
                    <a:schemeClr val="bg1"/>
                  </a:solidFill>
                </a:ln>
              </a:rPr>
              <a:t>백제약품</a:t>
            </a:r>
            <a:endParaRPr lang="ko-KR" altLang="en-US" sz="20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05684" y="58176"/>
            <a:ext cx="93968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dirty="0" smtClean="0">
                <a:ln>
                  <a:solidFill>
                    <a:schemeClr val="bg1"/>
                  </a:solidFill>
                </a:ln>
              </a:rPr>
              <a:t>회사 소개</a:t>
            </a:r>
            <a:endParaRPr lang="ko-KR" altLang="en-US" sz="15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596047" y="58176"/>
            <a:ext cx="111601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dirty="0" smtClean="0">
                <a:ln>
                  <a:solidFill>
                    <a:schemeClr val="bg1"/>
                  </a:solidFill>
                </a:ln>
              </a:rPr>
              <a:t>물류 서비스</a:t>
            </a:r>
            <a:endParaRPr lang="ko-KR" altLang="en-US" sz="15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898006" y="58176"/>
            <a:ext cx="93487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 smtClean="0">
                <a:ln>
                  <a:solidFill>
                    <a:schemeClr val="bg1"/>
                  </a:solidFill>
                </a:ln>
              </a:rPr>
              <a:t>Contact</a:t>
            </a:r>
            <a:endParaRPr lang="ko-KR" altLang="en-US" sz="15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03804" y="5136470"/>
            <a:ext cx="9412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 smtClean="0">
                <a:ln>
                  <a:solidFill>
                    <a:schemeClr val="bg1"/>
                  </a:solidFill>
                </a:ln>
              </a:rPr>
              <a:t>설립</a:t>
            </a:r>
            <a:endParaRPr lang="ko-KR" altLang="en-US" sz="32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43" name="모서리가 둥근 직사각형 42"/>
          <p:cNvSpPr/>
          <p:nvPr/>
        </p:nvSpPr>
        <p:spPr>
          <a:xfrm>
            <a:off x="6450123" y="1274335"/>
            <a:ext cx="1209416" cy="5217762"/>
          </a:xfrm>
          <a:prstGeom prst="roundRect">
            <a:avLst>
              <a:gd name="adj" fmla="val 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/>
              <a:t>옛날 임직원 사진</a:t>
            </a:r>
            <a:endParaRPr lang="ko-KR" altLang="en-US" sz="2000" dirty="0"/>
          </a:p>
        </p:txBody>
      </p:sp>
      <p:sp>
        <p:nvSpPr>
          <p:cNvPr id="45" name="모서리가 둥근 직사각형 44"/>
          <p:cNvSpPr/>
          <p:nvPr/>
        </p:nvSpPr>
        <p:spPr>
          <a:xfrm>
            <a:off x="7605184" y="1274335"/>
            <a:ext cx="1209416" cy="5217762"/>
          </a:xfrm>
          <a:prstGeom prst="roundRect">
            <a:avLst>
              <a:gd name="adj" fmla="val 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/>
              <a:t>물류센터 사진</a:t>
            </a:r>
            <a:endParaRPr lang="ko-KR" altLang="en-US" sz="2000" dirty="0"/>
          </a:p>
        </p:txBody>
      </p:sp>
      <p:sp>
        <p:nvSpPr>
          <p:cNvPr id="47" name="모서리가 둥근 직사각형 46"/>
          <p:cNvSpPr/>
          <p:nvPr/>
        </p:nvSpPr>
        <p:spPr>
          <a:xfrm>
            <a:off x="8814600" y="1274335"/>
            <a:ext cx="1209416" cy="5217762"/>
          </a:xfrm>
          <a:prstGeom prst="roundRect">
            <a:avLst>
              <a:gd name="adj" fmla="val 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dirty="0"/>
          </a:p>
        </p:txBody>
      </p:sp>
      <p:sp>
        <p:nvSpPr>
          <p:cNvPr id="49" name="모서리가 둥근 직사각형 48"/>
          <p:cNvSpPr/>
          <p:nvPr/>
        </p:nvSpPr>
        <p:spPr>
          <a:xfrm>
            <a:off x="10024016" y="1274335"/>
            <a:ext cx="1209416" cy="5217762"/>
          </a:xfrm>
          <a:prstGeom prst="roundRect">
            <a:avLst>
              <a:gd name="adj" fmla="val 8521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/>
              <a:t>배송차량 사진</a:t>
            </a:r>
            <a:endParaRPr lang="ko-KR" altLang="en-US" sz="2000" dirty="0"/>
          </a:p>
        </p:txBody>
      </p:sp>
      <p:sp>
        <p:nvSpPr>
          <p:cNvPr id="17" name="TextBox 16"/>
          <p:cNvSpPr txBox="1"/>
          <p:nvPr/>
        </p:nvSpPr>
        <p:spPr>
          <a:xfrm>
            <a:off x="403804" y="5721245"/>
            <a:ext cx="18213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 smtClean="0">
                <a:ln>
                  <a:solidFill>
                    <a:schemeClr val="bg1"/>
                  </a:solidFill>
                </a:ln>
              </a:rPr>
              <a:t>1946</a:t>
            </a:r>
            <a:r>
              <a:rPr lang="ko-KR" altLang="en-US" sz="2400" b="1" dirty="0" smtClean="0">
                <a:ln>
                  <a:solidFill>
                    <a:schemeClr val="bg1"/>
                  </a:solidFill>
                </a:ln>
              </a:rPr>
              <a:t>년 설립</a:t>
            </a:r>
            <a:endParaRPr lang="ko-KR" altLang="en-US" sz="2400" b="1" dirty="0">
              <a:ln>
                <a:solidFill>
                  <a:schemeClr val="bg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7801412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/>
          <p:cNvSpPr/>
          <p:nvPr/>
        </p:nvSpPr>
        <p:spPr>
          <a:xfrm>
            <a:off x="0" y="0"/>
            <a:ext cx="1503680" cy="433491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/>
              <a:t>로고</a:t>
            </a:r>
            <a:endParaRPr lang="ko-KR" altLang="en-US" sz="2000" dirty="0"/>
          </a:p>
        </p:txBody>
      </p:sp>
      <p:sp>
        <p:nvSpPr>
          <p:cNvPr id="32" name="TextBox 31"/>
          <p:cNvSpPr txBox="1"/>
          <p:nvPr/>
        </p:nvSpPr>
        <p:spPr>
          <a:xfrm>
            <a:off x="1562100" y="15240"/>
            <a:ext cx="11272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smtClean="0">
                <a:ln>
                  <a:solidFill>
                    <a:schemeClr val="bg1"/>
                  </a:solidFill>
                </a:ln>
              </a:rPr>
              <a:t>백제약품</a:t>
            </a:r>
            <a:endParaRPr lang="ko-KR" altLang="en-US" sz="20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05684" y="58176"/>
            <a:ext cx="93968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dirty="0" smtClean="0">
                <a:ln>
                  <a:solidFill>
                    <a:schemeClr val="bg1"/>
                  </a:solidFill>
                </a:ln>
              </a:rPr>
              <a:t>회사 소개</a:t>
            </a:r>
            <a:endParaRPr lang="ko-KR" altLang="en-US" sz="15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596047" y="58176"/>
            <a:ext cx="111601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dirty="0" smtClean="0">
                <a:ln>
                  <a:solidFill>
                    <a:schemeClr val="bg1"/>
                  </a:solidFill>
                </a:ln>
              </a:rPr>
              <a:t>물류 서비스</a:t>
            </a:r>
            <a:endParaRPr lang="ko-KR" altLang="en-US" sz="15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898006" y="58176"/>
            <a:ext cx="93487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 smtClean="0">
                <a:ln>
                  <a:solidFill>
                    <a:schemeClr val="bg1"/>
                  </a:solidFill>
                </a:ln>
              </a:rPr>
              <a:t>Contact</a:t>
            </a:r>
            <a:endParaRPr lang="ko-KR" altLang="en-US" sz="15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26" name="모서리가 둥근 직사각형 25"/>
          <p:cNvSpPr/>
          <p:nvPr/>
        </p:nvSpPr>
        <p:spPr>
          <a:xfrm>
            <a:off x="613353" y="4568611"/>
            <a:ext cx="1611425" cy="978750"/>
          </a:xfrm>
          <a:prstGeom prst="roundRect">
            <a:avLst>
              <a:gd name="adj" fmla="val 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err="1" smtClean="0"/>
              <a:t>파트너십</a:t>
            </a:r>
            <a:endParaRPr lang="ko-KR" altLang="en-US" sz="2000" dirty="0"/>
          </a:p>
        </p:txBody>
      </p:sp>
      <p:sp>
        <p:nvSpPr>
          <p:cNvPr id="27" name="모서리가 둥근 직사각형 26"/>
          <p:cNvSpPr/>
          <p:nvPr/>
        </p:nvSpPr>
        <p:spPr>
          <a:xfrm>
            <a:off x="2524543" y="4568611"/>
            <a:ext cx="1611425" cy="978750"/>
          </a:xfrm>
          <a:prstGeom prst="roundRect">
            <a:avLst>
              <a:gd name="adj" fmla="val 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err="1"/>
              <a:t>파트너십</a:t>
            </a:r>
            <a:endParaRPr lang="ko-KR" altLang="en-US" sz="2000" dirty="0"/>
          </a:p>
        </p:txBody>
      </p:sp>
      <p:sp>
        <p:nvSpPr>
          <p:cNvPr id="28" name="모서리가 둥근 직사각형 27"/>
          <p:cNvSpPr/>
          <p:nvPr/>
        </p:nvSpPr>
        <p:spPr>
          <a:xfrm>
            <a:off x="4435733" y="4568611"/>
            <a:ext cx="1611425" cy="978750"/>
          </a:xfrm>
          <a:prstGeom prst="roundRect">
            <a:avLst>
              <a:gd name="adj" fmla="val 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err="1"/>
              <a:t>파트너십</a:t>
            </a:r>
            <a:endParaRPr lang="ko-KR" altLang="en-US" sz="2000" dirty="0"/>
          </a:p>
        </p:txBody>
      </p:sp>
      <p:sp>
        <p:nvSpPr>
          <p:cNvPr id="29" name="모서리가 둥근 직사각형 28"/>
          <p:cNvSpPr/>
          <p:nvPr/>
        </p:nvSpPr>
        <p:spPr>
          <a:xfrm>
            <a:off x="6346923" y="4568611"/>
            <a:ext cx="1611425" cy="978750"/>
          </a:xfrm>
          <a:prstGeom prst="roundRect">
            <a:avLst>
              <a:gd name="adj" fmla="val 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err="1"/>
              <a:t>파트너십</a:t>
            </a:r>
            <a:endParaRPr lang="ko-KR" altLang="en-US" sz="2000" dirty="0"/>
          </a:p>
        </p:txBody>
      </p:sp>
      <p:sp>
        <p:nvSpPr>
          <p:cNvPr id="30" name="모서리가 둥근 직사각형 29"/>
          <p:cNvSpPr/>
          <p:nvPr/>
        </p:nvSpPr>
        <p:spPr>
          <a:xfrm>
            <a:off x="8258113" y="4568611"/>
            <a:ext cx="1611425" cy="978750"/>
          </a:xfrm>
          <a:prstGeom prst="roundRect">
            <a:avLst>
              <a:gd name="adj" fmla="val 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err="1"/>
              <a:t>파트너십</a:t>
            </a:r>
            <a:endParaRPr lang="ko-KR" altLang="en-US" sz="2000" dirty="0"/>
          </a:p>
        </p:txBody>
      </p:sp>
      <p:sp>
        <p:nvSpPr>
          <p:cNvPr id="36" name="모서리가 둥근 직사각형 35"/>
          <p:cNvSpPr/>
          <p:nvPr/>
        </p:nvSpPr>
        <p:spPr>
          <a:xfrm>
            <a:off x="10169303" y="4568611"/>
            <a:ext cx="1611425" cy="978750"/>
          </a:xfrm>
          <a:prstGeom prst="roundRect">
            <a:avLst>
              <a:gd name="adj" fmla="val 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err="1"/>
              <a:t>파트너십</a:t>
            </a:r>
            <a:endParaRPr lang="ko-KR" altLang="en-US" sz="2000" dirty="0"/>
          </a:p>
        </p:txBody>
      </p:sp>
      <p:sp>
        <p:nvSpPr>
          <p:cNvPr id="41" name="모서리가 둥근 직사각형 40"/>
          <p:cNvSpPr/>
          <p:nvPr/>
        </p:nvSpPr>
        <p:spPr>
          <a:xfrm>
            <a:off x="36473" y="5716691"/>
            <a:ext cx="1611425" cy="978750"/>
          </a:xfrm>
          <a:prstGeom prst="roundRect">
            <a:avLst>
              <a:gd name="adj" fmla="val 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err="1" smtClean="0"/>
              <a:t>파트너십</a:t>
            </a:r>
            <a:endParaRPr lang="ko-KR" altLang="en-US" sz="2000" dirty="0"/>
          </a:p>
        </p:txBody>
      </p:sp>
      <p:sp>
        <p:nvSpPr>
          <p:cNvPr id="42" name="모서리가 둥근 직사각형 41"/>
          <p:cNvSpPr/>
          <p:nvPr/>
        </p:nvSpPr>
        <p:spPr>
          <a:xfrm>
            <a:off x="1947663" y="5716691"/>
            <a:ext cx="1611425" cy="978750"/>
          </a:xfrm>
          <a:prstGeom prst="roundRect">
            <a:avLst>
              <a:gd name="adj" fmla="val 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err="1"/>
              <a:t>파트너십</a:t>
            </a:r>
            <a:endParaRPr lang="ko-KR" altLang="en-US" sz="2000" dirty="0"/>
          </a:p>
        </p:txBody>
      </p:sp>
      <p:sp>
        <p:nvSpPr>
          <p:cNvPr id="44" name="모서리가 둥근 직사각형 43"/>
          <p:cNvSpPr/>
          <p:nvPr/>
        </p:nvSpPr>
        <p:spPr>
          <a:xfrm>
            <a:off x="3858853" y="5716691"/>
            <a:ext cx="1611425" cy="978750"/>
          </a:xfrm>
          <a:prstGeom prst="roundRect">
            <a:avLst>
              <a:gd name="adj" fmla="val 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err="1"/>
              <a:t>파트너십</a:t>
            </a:r>
            <a:endParaRPr lang="ko-KR" altLang="en-US" sz="2000" dirty="0"/>
          </a:p>
        </p:txBody>
      </p:sp>
      <p:sp>
        <p:nvSpPr>
          <p:cNvPr id="46" name="모서리가 둥근 직사각형 45"/>
          <p:cNvSpPr/>
          <p:nvPr/>
        </p:nvSpPr>
        <p:spPr>
          <a:xfrm>
            <a:off x="5770043" y="5716691"/>
            <a:ext cx="1611425" cy="978750"/>
          </a:xfrm>
          <a:prstGeom prst="roundRect">
            <a:avLst>
              <a:gd name="adj" fmla="val 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err="1"/>
              <a:t>파트너십</a:t>
            </a:r>
            <a:endParaRPr lang="ko-KR" altLang="en-US" sz="2000" dirty="0"/>
          </a:p>
        </p:txBody>
      </p:sp>
      <p:sp>
        <p:nvSpPr>
          <p:cNvPr id="48" name="모서리가 둥근 직사각형 47"/>
          <p:cNvSpPr/>
          <p:nvPr/>
        </p:nvSpPr>
        <p:spPr>
          <a:xfrm>
            <a:off x="7681233" y="5716691"/>
            <a:ext cx="1611425" cy="978750"/>
          </a:xfrm>
          <a:prstGeom prst="roundRect">
            <a:avLst>
              <a:gd name="adj" fmla="val 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err="1"/>
              <a:t>파트너십</a:t>
            </a:r>
            <a:endParaRPr lang="ko-KR" altLang="en-US" sz="2000" dirty="0"/>
          </a:p>
        </p:txBody>
      </p:sp>
      <p:sp>
        <p:nvSpPr>
          <p:cNvPr id="50" name="모서리가 둥근 직사각형 49"/>
          <p:cNvSpPr/>
          <p:nvPr/>
        </p:nvSpPr>
        <p:spPr>
          <a:xfrm>
            <a:off x="9592423" y="5716691"/>
            <a:ext cx="1611425" cy="978750"/>
          </a:xfrm>
          <a:prstGeom prst="roundRect">
            <a:avLst>
              <a:gd name="adj" fmla="val 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err="1"/>
              <a:t>파트너십</a:t>
            </a:r>
            <a:endParaRPr lang="ko-KR" altLang="en-US" sz="2000" dirty="0"/>
          </a:p>
        </p:txBody>
      </p:sp>
      <p:sp>
        <p:nvSpPr>
          <p:cNvPr id="40" name="모서리가 둥근 직사각형 39"/>
          <p:cNvSpPr/>
          <p:nvPr/>
        </p:nvSpPr>
        <p:spPr>
          <a:xfrm rot="10800000">
            <a:off x="10898005" y="4053840"/>
            <a:ext cx="1345087" cy="280416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chemeClr val="bg1"/>
              </a:gs>
              <a:gs pos="50000">
                <a:srgbClr val="FCFDFE"/>
              </a:gs>
              <a:gs pos="67000">
                <a:schemeClr val="bg1">
                  <a:alpha val="80000"/>
                </a:schemeClr>
              </a:gs>
              <a:gs pos="86000">
                <a:schemeClr val="bg1">
                  <a:alpha val="27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dirty="0"/>
          </a:p>
        </p:txBody>
      </p:sp>
      <p:sp>
        <p:nvSpPr>
          <p:cNvPr id="39" name="모서리가 둥근 직사각형 38"/>
          <p:cNvSpPr/>
          <p:nvPr/>
        </p:nvSpPr>
        <p:spPr>
          <a:xfrm>
            <a:off x="0" y="4053841"/>
            <a:ext cx="1345087" cy="280416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chemeClr val="bg1"/>
              </a:gs>
              <a:gs pos="50000">
                <a:srgbClr val="FCFDFE"/>
              </a:gs>
              <a:gs pos="67000">
                <a:schemeClr val="bg1">
                  <a:alpha val="80000"/>
                </a:schemeClr>
              </a:gs>
              <a:gs pos="86000">
                <a:schemeClr val="bg1">
                  <a:alpha val="27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dirty="0"/>
          </a:p>
        </p:txBody>
      </p:sp>
      <p:sp>
        <p:nvSpPr>
          <p:cNvPr id="57" name="TextBox 56"/>
          <p:cNvSpPr txBox="1"/>
          <p:nvPr/>
        </p:nvSpPr>
        <p:spPr>
          <a:xfrm>
            <a:off x="654890" y="2623687"/>
            <a:ext cx="36728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 smtClean="0">
                <a:ln>
                  <a:solidFill>
                    <a:schemeClr val="bg1"/>
                  </a:solidFill>
                </a:ln>
              </a:rPr>
              <a:t>신뢰로 연결된 </a:t>
            </a:r>
            <a:r>
              <a:rPr lang="ko-KR" altLang="en-US" sz="2800" b="1" dirty="0" err="1" smtClean="0">
                <a:ln>
                  <a:solidFill>
                    <a:schemeClr val="bg1"/>
                  </a:solidFill>
                </a:ln>
              </a:rPr>
              <a:t>파트너십</a:t>
            </a:r>
            <a:endParaRPr lang="ko-KR" altLang="en-US" sz="28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654890" y="3146907"/>
            <a:ext cx="756168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>
                <a:ln>
                  <a:solidFill>
                    <a:schemeClr val="bg1"/>
                  </a:solidFill>
                </a:ln>
              </a:rPr>
              <a:t>글로벌 제약사부터 국내 주요 제약사</a:t>
            </a:r>
            <a:r>
              <a:rPr lang="en-US" altLang="ko-KR" sz="2000" b="1" dirty="0">
                <a:ln>
                  <a:solidFill>
                    <a:schemeClr val="bg1"/>
                  </a:solidFill>
                </a:ln>
              </a:rPr>
              <a:t>,</a:t>
            </a:r>
          </a:p>
          <a:p>
            <a:r>
              <a:rPr lang="ko-KR" altLang="en-US" sz="2000" b="1" dirty="0">
                <a:ln>
                  <a:solidFill>
                    <a:schemeClr val="bg1"/>
                  </a:solidFill>
                </a:ln>
              </a:rPr>
              <a:t>그리고 전국 </a:t>
            </a:r>
            <a:r>
              <a:rPr lang="en-US" altLang="ko-KR" sz="2000" b="1" dirty="0">
                <a:ln>
                  <a:solidFill>
                    <a:schemeClr val="bg1"/>
                  </a:solidFill>
                </a:ln>
              </a:rPr>
              <a:t>2</a:t>
            </a:r>
            <a:r>
              <a:rPr lang="ko-KR" altLang="en-US" sz="2000" b="1" dirty="0">
                <a:ln>
                  <a:solidFill>
                    <a:schemeClr val="bg1"/>
                  </a:solidFill>
                </a:ln>
              </a:rPr>
              <a:t>만여 </a:t>
            </a:r>
            <a:r>
              <a:rPr lang="ko-KR" altLang="en-US" sz="2000" b="1" dirty="0" err="1">
                <a:ln>
                  <a:solidFill>
                    <a:schemeClr val="bg1"/>
                  </a:solidFill>
                </a:ln>
              </a:rPr>
              <a:t>병의원</a:t>
            </a:r>
            <a:r>
              <a:rPr lang="ko-KR" altLang="en-US" sz="2000" b="1" dirty="0">
                <a:ln>
                  <a:solidFill>
                    <a:schemeClr val="bg1"/>
                  </a:solidFill>
                </a:ln>
              </a:rPr>
              <a:t> 및 약국까지</a:t>
            </a:r>
            <a:r>
              <a:rPr lang="en-US" altLang="ko-KR" sz="2000" b="1" dirty="0">
                <a:ln>
                  <a:solidFill>
                    <a:schemeClr val="bg1"/>
                  </a:solidFill>
                </a:ln>
              </a:rPr>
              <a:t>.</a:t>
            </a:r>
          </a:p>
          <a:p>
            <a:r>
              <a:rPr lang="ko-KR" altLang="en-US" sz="2000" b="1" dirty="0">
                <a:ln>
                  <a:solidFill>
                    <a:schemeClr val="bg1"/>
                  </a:solidFill>
                </a:ln>
              </a:rPr>
              <a:t>백제약품의 유통 네트워크는 다양한 파트너와 함께 구축되어 왔습니다</a:t>
            </a:r>
            <a:r>
              <a:rPr lang="en-US" altLang="ko-KR" sz="2000" b="1" dirty="0">
                <a:ln>
                  <a:solidFill>
                    <a:schemeClr val="bg1"/>
                  </a:solidFill>
                </a:ln>
              </a:rPr>
              <a:t>.</a:t>
            </a:r>
            <a:endParaRPr lang="ko-KR" altLang="en-US" sz="2000" b="1" dirty="0">
              <a:ln>
                <a:solidFill>
                  <a:schemeClr val="bg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1183387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/>
          <p:cNvSpPr/>
          <p:nvPr/>
        </p:nvSpPr>
        <p:spPr>
          <a:xfrm>
            <a:off x="0" y="0"/>
            <a:ext cx="1503680" cy="433491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/>
              <a:t>로고</a:t>
            </a:r>
            <a:endParaRPr lang="ko-KR" altLang="en-US" sz="2000" dirty="0"/>
          </a:p>
        </p:txBody>
      </p:sp>
      <p:sp>
        <p:nvSpPr>
          <p:cNvPr id="32" name="TextBox 31"/>
          <p:cNvSpPr txBox="1"/>
          <p:nvPr/>
        </p:nvSpPr>
        <p:spPr>
          <a:xfrm>
            <a:off x="1562100" y="15240"/>
            <a:ext cx="11272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smtClean="0">
                <a:ln>
                  <a:solidFill>
                    <a:schemeClr val="bg1"/>
                  </a:solidFill>
                </a:ln>
              </a:rPr>
              <a:t>백제약품</a:t>
            </a:r>
            <a:endParaRPr lang="ko-KR" altLang="en-US" sz="20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05684" y="58176"/>
            <a:ext cx="93968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dirty="0" smtClean="0">
                <a:ln>
                  <a:solidFill>
                    <a:schemeClr val="bg1"/>
                  </a:solidFill>
                </a:ln>
              </a:rPr>
              <a:t>회사 소개</a:t>
            </a:r>
            <a:endParaRPr lang="ko-KR" altLang="en-US" sz="15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596047" y="58176"/>
            <a:ext cx="111601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dirty="0" smtClean="0">
                <a:ln>
                  <a:solidFill>
                    <a:schemeClr val="bg1"/>
                  </a:solidFill>
                </a:ln>
              </a:rPr>
              <a:t>물류 서비스</a:t>
            </a:r>
            <a:endParaRPr lang="ko-KR" altLang="en-US" sz="15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898006" y="58176"/>
            <a:ext cx="93487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 smtClean="0">
                <a:ln>
                  <a:solidFill>
                    <a:schemeClr val="bg1"/>
                  </a:solidFill>
                </a:ln>
              </a:rPr>
              <a:t>Contact</a:t>
            </a:r>
            <a:endParaRPr lang="ko-KR" altLang="en-US" sz="15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26" name="모서리가 둥근 직사각형 25"/>
          <p:cNvSpPr/>
          <p:nvPr/>
        </p:nvSpPr>
        <p:spPr>
          <a:xfrm>
            <a:off x="0" y="433492"/>
            <a:ext cx="12192000" cy="6424508"/>
          </a:xfrm>
          <a:prstGeom prst="roundRect">
            <a:avLst>
              <a:gd name="adj" fmla="val 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/>
              <a:t>약간 </a:t>
            </a:r>
            <a:r>
              <a:rPr lang="ko-KR" altLang="en-US" sz="2000" dirty="0" err="1" smtClean="0"/>
              <a:t>스타트업</a:t>
            </a:r>
            <a:r>
              <a:rPr lang="ko-KR" altLang="en-US" sz="2000" dirty="0" smtClean="0"/>
              <a:t> 분위기 나는 사진</a:t>
            </a:r>
            <a:endParaRPr lang="ko-KR" altLang="en-US" sz="2000" dirty="0"/>
          </a:p>
        </p:txBody>
      </p:sp>
      <p:sp>
        <p:nvSpPr>
          <p:cNvPr id="57" name="TextBox 56"/>
          <p:cNvSpPr txBox="1"/>
          <p:nvPr/>
        </p:nvSpPr>
        <p:spPr>
          <a:xfrm>
            <a:off x="2913078" y="3167390"/>
            <a:ext cx="63658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 smtClean="0">
                <a:ln>
                  <a:solidFill>
                    <a:schemeClr val="bg1"/>
                  </a:solidFill>
                </a:ln>
              </a:rPr>
              <a:t>더 건강한 내일을 연결하는 </a:t>
            </a:r>
            <a:r>
              <a:rPr lang="ko-KR" altLang="en-US" sz="2800" b="1" smtClean="0">
                <a:ln>
                  <a:solidFill>
                    <a:schemeClr val="bg1"/>
                  </a:solidFill>
                </a:ln>
              </a:rPr>
              <a:t>기업</a:t>
            </a:r>
            <a:r>
              <a:rPr lang="en-US" altLang="ko-KR" sz="2800" b="1" dirty="0" smtClean="0">
                <a:ln>
                  <a:solidFill>
                    <a:schemeClr val="bg1"/>
                  </a:solidFill>
                </a:ln>
              </a:rPr>
              <a:t>, </a:t>
            </a:r>
            <a:r>
              <a:rPr lang="ko-KR" altLang="en-US" sz="2800" b="1" dirty="0" smtClean="0">
                <a:ln>
                  <a:solidFill>
                    <a:schemeClr val="bg1"/>
                  </a:solidFill>
                </a:ln>
              </a:rPr>
              <a:t>백제약품</a:t>
            </a:r>
            <a:endParaRPr lang="ko-KR" altLang="en-US" sz="2800" b="1" dirty="0">
              <a:ln>
                <a:solidFill>
                  <a:schemeClr val="bg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103357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/>
          <p:cNvSpPr/>
          <p:nvPr/>
        </p:nvSpPr>
        <p:spPr>
          <a:xfrm>
            <a:off x="0" y="0"/>
            <a:ext cx="1503680" cy="433491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/>
              <a:t>로고</a:t>
            </a:r>
            <a:endParaRPr lang="ko-KR" altLang="en-US" sz="2000" dirty="0"/>
          </a:p>
        </p:txBody>
      </p:sp>
      <p:sp>
        <p:nvSpPr>
          <p:cNvPr id="32" name="TextBox 31"/>
          <p:cNvSpPr txBox="1"/>
          <p:nvPr/>
        </p:nvSpPr>
        <p:spPr>
          <a:xfrm>
            <a:off x="1562100" y="15240"/>
            <a:ext cx="11272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smtClean="0">
                <a:ln>
                  <a:solidFill>
                    <a:schemeClr val="bg1"/>
                  </a:solidFill>
                </a:ln>
              </a:rPr>
              <a:t>백제약품</a:t>
            </a:r>
            <a:endParaRPr lang="ko-KR" altLang="en-US" sz="20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05684" y="58176"/>
            <a:ext cx="93968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dirty="0" smtClean="0">
                <a:ln>
                  <a:solidFill>
                    <a:schemeClr val="bg1"/>
                  </a:solidFill>
                </a:ln>
              </a:rPr>
              <a:t>회사 소개</a:t>
            </a:r>
            <a:endParaRPr lang="ko-KR" altLang="en-US" sz="15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596047" y="58176"/>
            <a:ext cx="111601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dirty="0" smtClean="0">
                <a:ln>
                  <a:solidFill>
                    <a:schemeClr val="bg1"/>
                  </a:solidFill>
                </a:ln>
              </a:rPr>
              <a:t>물류 서비스</a:t>
            </a:r>
            <a:endParaRPr lang="ko-KR" altLang="en-US" sz="15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898006" y="58176"/>
            <a:ext cx="93487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 smtClean="0">
                <a:ln>
                  <a:solidFill>
                    <a:schemeClr val="bg1"/>
                  </a:solidFill>
                </a:ln>
              </a:rPr>
              <a:t>Contact</a:t>
            </a:r>
            <a:endParaRPr lang="ko-KR" altLang="en-US" sz="15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26" name="모서리가 둥근 직사각형 25"/>
          <p:cNvSpPr/>
          <p:nvPr/>
        </p:nvSpPr>
        <p:spPr>
          <a:xfrm>
            <a:off x="0" y="433492"/>
            <a:ext cx="12192000" cy="704428"/>
          </a:xfrm>
          <a:prstGeom prst="roundRect">
            <a:avLst>
              <a:gd name="adj" fmla="val 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/>
              <a:t>약간 </a:t>
            </a:r>
            <a:r>
              <a:rPr lang="ko-KR" altLang="en-US" sz="2000" dirty="0" err="1" smtClean="0"/>
              <a:t>스타트업</a:t>
            </a:r>
            <a:r>
              <a:rPr lang="ko-KR" altLang="en-US" sz="2000" dirty="0" smtClean="0"/>
              <a:t> 분위기 나는 사진</a:t>
            </a:r>
            <a:endParaRPr lang="ko-KR" altLang="en-US" sz="2000" dirty="0"/>
          </a:p>
        </p:txBody>
      </p:sp>
      <p:sp>
        <p:nvSpPr>
          <p:cNvPr id="57" name="TextBox 56"/>
          <p:cNvSpPr txBox="1"/>
          <p:nvPr/>
        </p:nvSpPr>
        <p:spPr>
          <a:xfrm>
            <a:off x="3171962" y="1659543"/>
            <a:ext cx="5848076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b="1" dirty="0">
                <a:ln>
                  <a:solidFill>
                    <a:schemeClr val="bg1"/>
                  </a:solidFill>
                </a:ln>
              </a:rPr>
              <a:t>생명 존중의 가치를 바탕으로</a:t>
            </a:r>
            <a:r>
              <a:rPr lang="en-US" altLang="ko-KR" sz="2800" b="1" dirty="0">
                <a:ln>
                  <a:solidFill>
                    <a:schemeClr val="bg1"/>
                  </a:solidFill>
                </a:ln>
              </a:rPr>
              <a:t>, </a:t>
            </a:r>
            <a:endParaRPr lang="en-US" altLang="ko-KR" sz="2800" b="1" dirty="0" smtClean="0">
              <a:ln>
                <a:solidFill>
                  <a:schemeClr val="bg1"/>
                </a:solidFill>
              </a:ln>
            </a:endParaRPr>
          </a:p>
          <a:p>
            <a:pPr algn="ctr"/>
            <a:r>
              <a:rPr lang="ko-KR" altLang="en-US" sz="2800" b="1" dirty="0" smtClean="0">
                <a:ln>
                  <a:solidFill>
                    <a:schemeClr val="bg1"/>
                  </a:solidFill>
                </a:ln>
              </a:rPr>
              <a:t>파트너와 </a:t>
            </a:r>
            <a:r>
              <a:rPr lang="ko-KR" altLang="en-US" sz="2800" b="1" dirty="0">
                <a:ln>
                  <a:solidFill>
                    <a:schemeClr val="bg1"/>
                  </a:solidFill>
                </a:ln>
              </a:rPr>
              <a:t>함께 성장하는 </a:t>
            </a:r>
            <a:endParaRPr lang="en-US" altLang="ko-KR" sz="2800" b="1" dirty="0" smtClean="0">
              <a:ln>
                <a:solidFill>
                  <a:schemeClr val="bg1"/>
                </a:solidFill>
              </a:ln>
            </a:endParaRPr>
          </a:p>
          <a:p>
            <a:pPr algn="ctr"/>
            <a:r>
              <a:rPr lang="ko-KR" altLang="en-US" sz="2800" b="1" dirty="0" err="1" smtClean="0">
                <a:ln>
                  <a:solidFill>
                    <a:schemeClr val="bg1"/>
                  </a:solidFill>
                </a:ln>
              </a:rPr>
              <a:t>헬스케어</a:t>
            </a:r>
            <a:r>
              <a:rPr lang="ko-KR" altLang="en-US" sz="2800" b="1" dirty="0" smtClean="0">
                <a:ln>
                  <a:solidFill>
                    <a:schemeClr val="bg1"/>
                  </a:solidFill>
                </a:ln>
              </a:rPr>
              <a:t> </a:t>
            </a:r>
            <a:r>
              <a:rPr lang="ko-KR" altLang="en-US" sz="2800" b="1" dirty="0">
                <a:ln>
                  <a:solidFill>
                    <a:schemeClr val="bg1"/>
                  </a:solidFill>
                </a:ln>
              </a:rPr>
              <a:t>유통 플랫폼으로 나아갑니다</a:t>
            </a:r>
            <a:r>
              <a:rPr lang="en-US" altLang="ko-KR" sz="2800" b="1" dirty="0">
                <a:ln>
                  <a:solidFill>
                    <a:schemeClr val="bg1"/>
                  </a:solidFill>
                </a:ln>
              </a:rPr>
              <a:t>.</a:t>
            </a:r>
            <a:endParaRPr lang="ko-KR" altLang="en-US" sz="28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673448" y="4900583"/>
            <a:ext cx="8451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b="1" dirty="0" smtClean="0">
                <a:ln>
                  <a:solidFill>
                    <a:schemeClr val="bg1"/>
                  </a:solidFill>
                </a:ln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사명</a:t>
            </a:r>
            <a:endParaRPr lang="ko-KR" altLang="en-US" sz="2800" b="1" dirty="0">
              <a:ln>
                <a:solidFill>
                  <a:schemeClr val="bg1"/>
                </a:solidFill>
              </a:ln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513951" y="5410181"/>
            <a:ext cx="11641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 smtClean="0">
                <a:ln>
                  <a:solidFill>
                    <a:schemeClr val="bg1"/>
                  </a:solidFill>
                </a:ln>
                <a:solidFill>
                  <a:schemeClr val="bg1">
                    <a:lumMod val="75000"/>
                  </a:schemeClr>
                </a:solidFill>
              </a:rPr>
              <a:t>Mission</a:t>
            </a:r>
            <a:endParaRPr lang="ko-KR" altLang="en-US" sz="2000" b="1" dirty="0">
              <a:ln>
                <a:solidFill>
                  <a:schemeClr val="bg1"/>
                </a:solidFill>
              </a:ln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16400" y="5933668"/>
            <a:ext cx="113592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b="1" dirty="0">
                <a:ln>
                  <a:solidFill>
                    <a:schemeClr val="bg1"/>
                  </a:solidFill>
                </a:ln>
              </a:rPr>
              <a:t>신뢰할 수 있는 의약품 유통으로 국민의 건강한 삶을 지속적으로 지원합니다</a:t>
            </a:r>
            <a:r>
              <a:rPr lang="en-US" altLang="ko-KR" sz="2800" b="1" dirty="0">
                <a:ln>
                  <a:solidFill>
                    <a:schemeClr val="bg1"/>
                  </a:solidFill>
                </a:ln>
              </a:rPr>
              <a:t>.</a:t>
            </a:r>
            <a:endParaRPr lang="ko-KR" altLang="en-US" sz="2800" b="1" dirty="0">
              <a:ln>
                <a:solidFill>
                  <a:schemeClr val="bg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2211490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/>
          <p:cNvSpPr/>
          <p:nvPr/>
        </p:nvSpPr>
        <p:spPr>
          <a:xfrm>
            <a:off x="0" y="0"/>
            <a:ext cx="1503680" cy="433491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/>
              <a:t>로고</a:t>
            </a:r>
            <a:endParaRPr lang="ko-KR" altLang="en-US" sz="2000" dirty="0"/>
          </a:p>
        </p:txBody>
      </p:sp>
      <p:sp>
        <p:nvSpPr>
          <p:cNvPr id="32" name="TextBox 31"/>
          <p:cNvSpPr txBox="1"/>
          <p:nvPr/>
        </p:nvSpPr>
        <p:spPr>
          <a:xfrm>
            <a:off x="1562100" y="15240"/>
            <a:ext cx="11272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smtClean="0">
                <a:ln>
                  <a:solidFill>
                    <a:schemeClr val="bg1"/>
                  </a:solidFill>
                </a:ln>
              </a:rPr>
              <a:t>백제약품</a:t>
            </a:r>
            <a:endParaRPr lang="ko-KR" altLang="en-US" sz="20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05684" y="58176"/>
            <a:ext cx="93968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dirty="0" smtClean="0">
                <a:ln>
                  <a:solidFill>
                    <a:schemeClr val="bg1"/>
                  </a:solidFill>
                </a:ln>
              </a:rPr>
              <a:t>회사 소개</a:t>
            </a:r>
            <a:endParaRPr lang="ko-KR" altLang="en-US" sz="15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596047" y="58176"/>
            <a:ext cx="111601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dirty="0" smtClean="0">
                <a:ln>
                  <a:solidFill>
                    <a:schemeClr val="bg1"/>
                  </a:solidFill>
                </a:ln>
              </a:rPr>
              <a:t>물류 서비스</a:t>
            </a:r>
            <a:endParaRPr lang="ko-KR" altLang="en-US" sz="15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898006" y="58176"/>
            <a:ext cx="93487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 smtClean="0">
                <a:ln>
                  <a:solidFill>
                    <a:schemeClr val="bg1"/>
                  </a:solidFill>
                </a:ln>
              </a:rPr>
              <a:t>Contact</a:t>
            </a:r>
            <a:endParaRPr lang="ko-KR" altLang="en-US" sz="15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673448" y="433491"/>
            <a:ext cx="8451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b="1" dirty="0" smtClean="0">
                <a:ln>
                  <a:solidFill>
                    <a:schemeClr val="bg1"/>
                  </a:solidFill>
                </a:ln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사명</a:t>
            </a:r>
            <a:endParaRPr lang="ko-KR" altLang="en-US" sz="2800" b="1" dirty="0">
              <a:ln>
                <a:solidFill>
                  <a:schemeClr val="bg1"/>
                </a:solidFill>
              </a:ln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513951" y="943089"/>
            <a:ext cx="11641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 smtClean="0">
                <a:ln>
                  <a:solidFill>
                    <a:schemeClr val="bg1"/>
                  </a:solidFill>
                </a:ln>
                <a:solidFill>
                  <a:schemeClr val="bg1">
                    <a:lumMod val="75000"/>
                  </a:schemeClr>
                </a:solidFill>
              </a:rPr>
              <a:t>Mission</a:t>
            </a:r>
            <a:endParaRPr lang="ko-KR" altLang="en-US" sz="2000" b="1" dirty="0">
              <a:ln>
                <a:solidFill>
                  <a:schemeClr val="bg1"/>
                </a:solidFill>
              </a:ln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16400" y="1466576"/>
            <a:ext cx="113592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b="1" dirty="0">
                <a:ln>
                  <a:solidFill>
                    <a:schemeClr val="bg1"/>
                  </a:solidFill>
                </a:ln>
              </a:rPr>
              <a:t>신뢰할 수 있는 의약품 유통으로 국민의 건강한 삶을 지속적으로 지원합니다</a:t>
            </a:r>
            <a:r>
              <a:rPr lang="en-US" altLang="ko-KR" sz="2800" b="1" dirty="0">
                <a:ln>
                  <a:solidFill>
                    <a:schemeClr val="bg1"/>
                  </a:solidFill>
                </a:ln>
              </a:rPr>
              <a:t>.</a:t>
            </a:r>
            <a:endParaRPr lang="ko-KR" altLang="en-US" sz="28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1706880" y="2318452"/>
            <a:ext cx="8784392" cy="4021387"/>
          </a:xfrm>
          <a:prstGeom prst="roundRect">
            <a:avLst>
              <a:gd name="adj" fmla="val 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0091816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모서리가 둥근 직사각형 11"/>
          <p:cNvSpPr/>
          <p:nvPr/>
        </p:nvSpPr>
        <p:spPr>
          <a:xfrm>
            <a:off x="0" y="433492"/>
            <a:ext cx="12192000" cy="6526108"/>
          </a:xfrm>
          <a:prstGeom prst="roundRect">
            <a:avLst>
              <a:gd name="adj" fmla="val 0"/>
            </a:avLst>
          </a:prstGeom>
          <a:solidFill>
            <a:srgbClr val="2F30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dirty="0"/>
          </a:p>
        </p:txBody>
      </p:sp>
      <p:sp>
        <p:nvSpPr>
          <p:cNvPr id="31" name="직사각형 30"/>
          <p:cNvSpPr/>
          <p:nvPr/>
        </p:nvSpPr>
        <p:spPr>
          <a:xfrm>
            <a:off x="0" y="0"/>
            <a:ext cx="1503680" cy="433491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/>
              <a:t>로고</a:t>
            </a:r>
            <a:endParaRPr lang="ko-KR" altLang="en-US" sz="2000" dirty="0"/>
          </a:p>
        </p:txBody>
      </p:sp>
      <p:sp>
        <p:nvSpPr>
          <p:cNvPr id="32" name="TextBox 31"/>
          <p:cNvSpPr txBox="1"/>
          <p:nvPr/>
        </p:nvSpPr>
        <p:spPr>
          <a:xfrm>
            <a:off x="1562100" y="15240"/>
            <a:ext cx="11272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smtClean="0">
                <a:ln>
                  <a:solidFill>
                    <a:schemeClr val="bg1"/>
                  </a:solidFill>
                </a:ln>
              </a:rPr>
              <a:t>백제약품</a:t>
            </a:r>
            <a:endParaRPr lang="ko-KR" altLang="en-US" sz="20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05684" y="58176"/>
            <a:ext cx="93968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dirty="0" smtClean="0">
                <a:ln>
                  <a:solidFill>
                    <a:schemeClr val="bg1"/>
                  </a:solidFill>
                </a:ln>
              </a:rPr>
              <a:t>회사 소개</a:t>
            </a:r>
            <a:endParaRPr lang="ko-KR" altLang="en-US" sz="15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596047" y="58176"/>
            <a:ext cx="111601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dirty="0" smtClean="0">
                <a:ln>
                  <a:solidFill>
                    <a:schemeClr val="bg1"/>
                  </a:solidFill>
                </a:ln>
              </a:rPr>
              <a:t>물류 서비스</a:t>
            </a:r>
            <a:endParaRPr lang="ko-KR" altLang="en-US" sz="15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898006" y="58176"/>
            <a:ext cx="93487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 smtClean="0">
                <a:ln>
                  <a:solidFill>
                    <a:schemeClr val="bg1"/>
                  </a:solidFill>
                </a:ln>
              </a:rPr>
              <a:t>Contact</a:t>
            </a:r>
            <a:endParaRPr lang="ko-KR" altLang="en-US" sz="15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673449" y="646851"/>
            <a:ext cx="8451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b="1" dirty="0" smtClean="0">
                <a:ln>
                  <a:solidFill>
                    <a:schemeClr val="bg1"/>
                  </a:solidFill>
                </a:ln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목표</a:t>
            </a:r>
            <a:endParaRPr lang="ko-KR" altLang="en-US" sz="2800" b="1" dirty="0">
              <a:ln>
                <a:solidFill>
                  <a:schemeClr val="bg1"/>
                </a:solidFill>
              </a:ln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15743" y="1156449"/>
            <a:ext cx="9605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 smtClean="0">
                <a:ln>
                  <a:solidFill>
                    <a:schemeClr val="bg1"/>
                  </a:solidFill>
                </a:ln>
                <a:solidFill>
                  <a:schemeClr val="bg1">
                    <a:lumMod val="75000"/>
                  </a:schemeClr>
                </a:solidFill>
              </a:rPr>
              <a:t>Vision</a:t>
            </a:r>
            <a:endParaRPr lang="ko-KR" altLang="en-US" sz="2000" b="1" dirty="0">
              <a:ln>
                <a:solidFill>
                  <a:schemeClr val="bg1"/>
                </a:solidFill>
              </a:ln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58114" y="1679936"/>
            <a:ext cx="867577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b="1" dirty="0">
                <a:ln>
                  <a:solidFill>
                    <a:schemeClr val="bg1"/>
                  </a:solidFill>
                </a:ln>
              </a:rPr>
              <a:t>데이터와 물류 혁신을 기반으로 </a:t>
            </a:r>
            <a:endParaRPr lang="en-US" altLang="ko-KR" sz="2800" b="1" dirty="0" smtClean="0">
              <a:ln>
                <a:solidFill>
                  <a:schemeClr val="bg1"/>
                </a:solidFill>
              </a:ln>
            </a:endParaRPr>
          </a:p>
          <a:p>
            <a:pPr algn="ctr"/>
            <a:r>
              <a:rPr lang="ko-KR" altLang="en-US" sz="2800" b="1" dirty="0" smtClean="0">
                <a:ln>
                  <a:solidFill>
                    <a:schemeClr val="bg1"/>
                  </a:solidFill>
                </a:ln>
              </a:rPr>
              <a:t>파트너의 </a:t>
            </a:r>
            <a:r>
              <a:rPr lang="ko-KR" altLang="en-US" sz="2800" b="1" dirty="0">
                <a:ln>
                  <a:solidFill>
                    <a:schemeClr val="bg1"/>
                  </a:solidFill>
                </a:ln>
              </a:rPr>
              <a:t>성장을 이끄는 </a:t>
            </a:r>
            <a:r>
              <a:rPr lang="ko-KR" altLang="en-US" sz="2800" b="1" dirty="0" err="1">
                <a:ln>
                  <a:solidFill>
                    <a:schemeClr val="bg1"/>
                  </a:solidFill>
                </a:ln>
              </a:rPr>
              <a:t>헬스케어</a:t>
            </a:r>
            <a:r>
              <a:rPr lang="ko-KR" altLang="en-US" sz="2800" b="1" dirty="0">
                <a:ln>
                  <a:solidFill>
                    <a:schemeClr val="bg1"/>
                  </a:solidFill>
                </a:ln>
              </a:rPr>
              <a:t> 플랫폼으로 </a:t>
            </a:r>
            <a:r>
              <a:rPr lang="ko-KR" altLang="en-US" sz="2800" b="1" dirty="0" smtClean="0">
                <a:ln>
                  <a:solidFill>
                    <a:schemeClr val="bg1"/>
                  </a:solidFill>
                </a:ln>
              </a:rPr>
              <a:t>발전합니다</a:t>
            </a:r>
            <a:r>
              <a:rPr lang="en-US" altLang="ko-KR" sz="2800" b="1" dirty="0" smtClean="0">
                <a:ln>
                  <a:solidFill>
                    <a:schemeClr val="bg1"/>
                  </a:solidFill>
                </a:ln>
              </a:rPr>
              <a:t>.</a:t>
            </a:r>
            <a:endParaRPr lang="ko-KR" altLang="en-US" sz="28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2479040" y="2968690"/>
            <a:ext cx="7240072" cy="3289869"/>
          </a:xfrm>
          <a:prstGeom prst="roundRect">
            <a:avLst>
              <a:gd name="adj" fmla="val 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837680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/>
          <p:cNvSpPr/>
          <p:nvPr/>
        </p:nvSpPr>
        <p:spPr>
          <a:xfrm>
            <a:off x="0" y="0"/>
            <a:ext cx="1503680" cy="433491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/>
              <a:t>로고</a:t>
            </a:r>
            <a:endParaRPr lang="ko-KR" altLang="en-US" sz="2000" dirty="0"/>
          </a:p>
        </p:txBody>
      </p:sp>
      <p:sp>
        <p:nvSpPr>
          <p:cNvPr id="32" name="TextBox 31"/>
          <p:cNvSpPr txBox="1"/>
          <p:nvPr/>
        </p:nvSpPr>
        <p:spPr>
          <a:xfrm>
            <a:off x="1562100" y="15240"/>
            <a:ext cx="11272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smtClean="0">
                <a:ln>
                  <a:solidFill>
                    <a:schemeClr val="bg1"/>
                  </a:solidFill>
                </a:ln>
              </a:rPr>
              <a:t>백제약품</a:t>
            </a:r>
            <a:endParaRPr lang="ko-KR" altLang="en-US" sz="20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05684" y="58176"/>
            <a:ext cx="93968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dirty="0" smtClean="0">
                <a:ln>
                  <a:solidFill>
                    <a:schemeClr val="bg1"/>
                  </a:solidFill>
                </a:ln>
              </a:rPr>
              <a:t>회사 소개</a:t>
            </a:r>
            <a:endParaRPr lang="ko-KR" altLang="en-US" sz="15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596047" y="58176"/>
            <a:ext cx="111601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dirty="0" smtClean="0">
                <a:ln>
                  <a:solidFill>
                    <a:schemeClr val="bg1"/>
                  </a:solidFill>
                </a:ln>
              </a:rPr>
              <a:t>물류 서비스</a:t>
            </a:r>
            <a:endParaRPr lang="ko-KR" altLang="en-US" sz="15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898006" y="58176"/>
            <a:ext cx="93487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 smtClean="0">
                <a:ln>
                  <a:solidFill>
                    <a:schemeClr val="bg1"/>
                  </a:solidFill>
                </a:ln>
              </a:rPr>
              <a:t>Contact</a:t>
            </a:r>
            <a:endParaRPr lang="ko-KR" altLang="en-US" sz="15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821726" y="646851"/>
            <a:ext cx="5485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b="1" dirty="0" smtClean="0">
                <a:ln>
                  <a:solidFill>
                    <a:schemeClr val="bg1"/>
                  </a:solidFill>
                </a:ln>
                <a:latin typeface="Noto Sans KR Black" panose="020B0200000000000000" pitchFamily="50" charset="-127"/>
                <a:ea typeface="Noto Sans KR Black" panose="020B0200000000000000" pitchFamily="50" charset="-127"/>
              </a:rPr>
              <a:t>CI</a:t>
            </a:r>
            <a:endParaRPr lang="ko-KR" altLang="en-US" sz="2800" b="1" dirty="0">
              <a:ln>
                <a:solidFill>
                  <a:schemeClr val="bg1"/>
                </a:solidFill>
              </a:ln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194404" y="1225853"/>
            <a:ext cx="580319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b="1" dirty="0" smtClean="0">
                <a:ln>
                  <a:solidFill>
                    <a:schemeClr val="bg1"/>
                  </a:solidFill>
                </a:ln>
              </a:rPr>
              <a:t>“</a:t>
            </a:r>
            <a:r>
              <a:rPr lang="ko-KR" altLang="en-US" sz="2800" b="1" dirty="0" smtClean="0">
                <a:ln>
                  <a:solidFill>
                    <a:schemeClr val="bg1"/>
                  </a:solidFill>
                </a:ln>
              </a:rPr>
              <a:t>백제약품의 </a:t>
            </a:r>
            <a:r>
              <a:rPr lang="en-US" altLang="ko-KR" sz="2800" b="1" dirty="0">
                <a:ln>
                  <a:solidFill>
                    <a:schemeClr val="bg1"/>
                  </a:solidFill>
                </a:ln>
              </a:rPr>
              <a:t>CI</a:t>
            </a:r>
            <a:r>
              <a:rPr lang="ko-KR" altLang="en-US" sz="2800" b="1" dirty="0">
                <a:ln>
                  <a:solidFill>
                    <a:schemeClr val="bg1"/>
                  </a:solidFill>
                </a:ln>
              </a:rPr>
              <a:t>는 생명을 향한 책임과 </a:t>
            </a:r>
            <a:endParaRPr lang="en-US" altLang="ko-KR" sz="2800" b="1" dirty="0" smtClean="0">
              <a:ln>
                <a:solidFill>
                  <a:schemeClr val="bg1"/>
                </a:solidFill>
              </a:ln>
            </a:endParaRPr>
          </a:p>
          <a:p>
            <a:pPr algn="ctr"/>
            <a:r>
              <a:rPr lang="ko-KR" altLang="en-US" sz="2800" b="1" dirty="0" smtClean="0">
                <a:ln>
                  <a:solidFill>
                    <a:schemeClr val="bg1"/>
                  </a:solidFill>
                </a:ln>
              </a:rPr>
              <a:t>지속적인 </a:t>
            </a:r>
            <a:r>
              <a:rPr lang="ko-KR" altLang="en-US" sz="2800" b="1" dirty="0">
                <a:ln>
                  <a:solidFill>
                    <a:schemeClr val="bg1"/>
                  </a:solidFill>
                </a:ln>
              </a:rPr>
              <a:t>혁신 의지를 담고 있습니다</a:t>
            </a:r>
            <a:r>
              <a:rPr lang="en-US" altLang="ko-KR" sz="2800" b="1" dirty="0" smtClean="0">
                <a:ln>
                  <a:solidFill>
                    <a:schemeClr val="bg1"/>
                  </a:solidFill>
                </a:ln>
              </a:rPr>
              <a:t>.”</a:t>
            </a:r>
            <a:endParaRPr lang="ko-KR" altLang="en-US" sz="28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2479040" y="2968690"/>
            <a:ext cx="7240072" cy="3289869"/>
          </a:xfrm>
          <a:prstGeom prst="roundRect">
            <a:avLst>
              <a:gd name="adj" fmla="val 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/>
              <a:t>로고 사진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5276172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/>
          <p:cNvSpPr/>
          <p:nvPr/>
        </p:nvSpPr>
        <p:spPr>
          <a:xfrm>
            <a:off x="0" y="0"/>
            <a:ext cx="1503680" cy="433491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/>
              <a:t>로고</a:t>
            </a:r>
            <a:endParaRPr lang="ko-KR" altLang="en-US" sz="2000" dirty="0"/>
          </a:p>
        </p:txBody>
      </p:sp>
      <p:sp>
        <p:nvSpPr>
          <p:cNvPr id="32" name="TextBox 31"/>
          <p:cNvSpPr txBox="1"/>
          <p:nvPr/>
        </p:nvSpPr>
        <p:spPr>
          <a:xfrm>
            <a:off x="1562100" y="15240"/>
            <a:ext cx="11272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smtClean="0">
                <a:ln>
                  <a:solidFill>
                    <a:schemeClr val="bg1"/>
                  </a:solidFill>
                </a:ln>
              </a:rPr>
              <a:t>백제약품</a:t>
            </a:r>
            <a:endParaRPr lang="ko-KR" altLang="en-US" sz="20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05684" y="58176"/>
            <a:ext cx="93968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dirty="0" smtClean="0">
                <a:ln>
                  <a:solidFill>
                    <a:schemeClr val="bg1"/>
                  </a:solidFill>
                </a:ln>
              </a:rPr>
              <a:t>회사 소개</a:t>
            </a:r>
            <a:endParaRPr lang="ko-KR" altLang="en-US" sz="15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596047" y="58176"/>
            <a:ext cx="111601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dirty="0" smtClean="0">
                <a:ln>
                  <a:solidFill>
                    <a:schemeClr val="bg1"/>
                  </a:solidFill>
                </a:ln>
              </a:rPr>
              <a:t>물류 서비스</a:t>
            </a:r>
            <a:endParaRPr lang="ko-KR" altLang="en-US" sz="15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898006" y="58176"/>
            <a:ext cx="93487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 smtClean="0">
                <a:ln>
                  <a:solidFill>
                    <a:schemeClr val="bg1"/>
                  </a:solidFill>
                </a:ln>
              </a:rPr>
              <a:t>Contact</a:t>
            </a:r>
            <a:endParaRPr lang="ko-KR" altLang="en-US" sz="15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2479040" y="433491"/>
            <a:ext cx="7240072" cy="3289869"/>
          </a:xfrm>
          <a:prstGeom prst="roundRect">
            <a:avLst>
              <a:gd name="adj" fmla="val 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/>
              <a:t>로고 사진</a:t>
            </a:r>
            <a:endParaRPr lang="ko-KR" altLang="en-US" sz="2000" dirty="0"/>
          </a:p>
        </p:txBody>
      </p:sp>
      <p:sp>
        <p:nvSpPr>
          <p:cNvPr id="10" name="모서리가 둥근 직사각형 9"/>
          <p:cNvSpPr/>
          <p:nvPr/>
        </p:nvSpPr>
        <p:spPr>
          <a:xfrm>
            <a:off x="1282164" y="3959011"/>
            <a:ext cx="3054152" cy="2553549"/>
          </a:xfrm>
          <a:prstGeom prst="roundRect">
            <a:avLst>
              <a:gd name="adj" fmla="val 7412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>
                <a:solidFill>
                  <a:schemeClr val="tx1"/>
                </a:solidFill>
              </a:rPr>
              <a:t>로고 의미 </a:t>
            </a:r>
            <a:r>
              <a:rPr lang="en-US" altLang="ko-KR" sz="2000" dirty="0" smtClean="0">
                <a:solidFill>
                  <a:schemeClr val="tx1"/>
                </a:solidFill>
              </a:rPr>
              <a:t>1</a:t>
            </a:r>
            <a:endParaRPr lang="ko-KR" altLang="en-US" sz="2000" dirty="0">
              <a:solidFill>
                <a:schemeClr val="tx1"/>
              </a:solidFill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4572000" y="3959011"/>
            <a:ext cx="3054152" cy="2553549"/>
          </a:xfrm>
          <a:prstGeom prst="roundRect">
            <a:avLst>
              <a:gd name="adj" fmla="val 7412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>
                <a:solidFill>
                  <a:schemeClr val="tx1"/>
                </a:solidFill>
              </a:rPr>
              <a:t>로고 의미 </a:t>
            </a:r>
            <a:r>
              <a:rPr lang="en-US" altLang="ko-KR" sz="2000" dirty="0" smtClean="0">
                <a:solidFill>
                  <a:schemeClr val="tx1"/>
                </a:solidFill>
              </a:rPr>
              <a:t>2</a:t>
            </a:r>
            <a:endParaRPr lang="ko-KR" altLang="en-US" sz="2000" dirty="0">
              <a:solidFill>
                <a:schemeClr val="tx1"/>
              </a:solidFill>
            </a:endParaRPr>
          </a:p>
        </p:txBody>
      </p:sp>
      <p:sp>
        <p:nvSpPr>
          <p:cNvPr id="14" name="모서리가 둥근 직사각형 13"/>
          <p:cNvSpPr/>
          <p:nvPr/>
        </p:nvSpPr>
        <p:spPr>
          <a:xfrm>
            <a:off x="7861836" y="3959011"/>
            <a:ext cx="3054152" cy="2553549"/>
          </a:xfrm>
          <a:prstGeom prst="roundRect">
            <a:avLst>
              <a:gd name="adj" fmla="val 7412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>
                <a:solidFill>
                  <a:schemeClr val="tx1"/>
                </a:solidFill>
              </a:rPr>
              <a:t>로고 의미 </a:t>
            </a:r>
            <a:r>
              <a:rPr lang="en-US" altLang="ko-KR" sz="2000" dirty="0">
                <a:solidFill>
                  <a:schemeClr val="tx1"/>
                </a:solidFill>
              </a:rPr>
              <a:t>3</a:t>
            </a:r>
            <a:endParaRPr lang="ko-KR" alt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2236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/>
          <p:cNvSpPr/>
          <p:nvPr/>
        </p:nvSpPr>
        <p:spPr>
          <a:xfrm>
            <a:off x="0" y="0"/>
            <a:ext cx="1503680" cy="433491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/>
              <a:t>로고</a:t>
            </a:r>
            <a:endParaRPr lang="ko-KR" altLang="en-US" sz="2000" dirty="0"/>
          </a:p>
        </p:txBody>
      </p:sp>
      <p:sp>
        <p:nvSpPr>
          <p:cNvPr id="32" name="TextBox 31"/>
          <p:cNvSpPr txBox="1"/>
          <p:nvPr/>
        </p:nvSpPr>
        <p:spPr>
          <a:xfrm>
            <a:off x="1562100" y="15240"/>
            <a:ext cx="11272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smtClean="0">
                <a:ln>
                  <a:solidFill>
                    <a:schemeClr val="bg1"/>
                  </a:solidFill>
                </a:ln>
              </a:rPr>
              <a:t>백제약품</a:t>
            </a:r>
            <a:endParaRPr lang="ko-KR" altLang="en-US" sz="20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05684" y="58176"/>
            <a:ext cx="93968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dirty="0" smtClean="0">
                <a:ln>
                  <a:solidFill>
                    <a:schemeClr val="bg1"/>
                  </a:solidFill>
                </a:ln>
              </a:rPr>
              <a:t>회사 소개</a:t>
            </a:r>
            <a:endParaRPr lang="ko-KR" altLang="en-US" sz="15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596047" y="58176"/>
            <a:ext cx="111601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dirty="0" smtClean="0">
                <a:ln>
                  <a:solidFill>
                    <a:schemeClr val="bg1"/>
                  </a:solidFill>
                </a:ln>
              </a:rPr>
              <a:t>물류 서비스</a:t>
            </a:r>
            <a:endParaRPr lang="ko-KR" altLang="en-US" sz="15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898006" y="58176"/>
            <a:ext cx="93487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 smtClean="0">
                <a:ln>
                  <a:solidFill>
                    <a:schemeClr val="bg1"/>
                  </a:solidFill>
                </a:ln>
              </a:rPr>
              <a:t>Contact</a:t>
            </a:r>
            <a:endParaRPr lang="ko-KR" altLang="en-US" sz="15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0" y="2265680"/>
            <a:ext cx="12192000" cy="4592320"/>
          </a:xfrm>
          <a:prstGeom prst="roundRect">
            <a:avLst>
              <a:gd name="adj" fmla="val 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/>
              <a:t>백제약품 사진</a:t>
            </a:r>
            <a:endParaRPr lang="ko-KR" altLang="en-US" sz="2000" dirty="0"/>
          </a:p>
        </p:txBody>
      </p:sp>
      <p:sp>
        <p:nvSpPr>
          <p:cNvPr id="11" name="TextBox 10"/>
          <p:cNvSpPr txBox="1"/>
          <p:nvPr/>
        </p:nvSpPr>
        <p:spPr>
          <a:xfrm>
            <a:off x="5673449" y="748451"/>
            <a:ext cx="8451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b="1" dirty="0" smtClean="0">
                <a:ln>
                  <a:solidFill>
                    <a:schemeClr val="bg1"/>
                  </a:solidFill>
                </a:ln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연혁</a:t>
            </a:r>
            <a:endParaRPr lang="ko-KR" altLang="en-US" sz="2800" b="1" dirty="0">
              <a:ln>
                <a:solidFill>
                  <a:schemeClr val="bg1"/>
                </a:solidFill>
              </a:ln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832402" y="1258049"/>
            <a:ext cx="45272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b="1" dirty="0">
                <a:ln>
                  <a:solidFill>
                    <a:schemeClr val="bg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대한민국 의약품 유통의 길을 걸어온 시간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084" y="5377398"/>
            <a:ext cx="530626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ln>
                  <a:solidFill>
                    <a:schemeClr val="bg1"/>
                  </a:solidFill>
                </a:ln>
              </a:rPr>
              <a:t>1946</a:t>
            </a:r>
            <a:r>
              <a:rPr lang="ko-KR" altLang="en-US" sz="2000" b="1" dirty="0">
                <a:ln>
                  <a:solidFill>
                    <a:schemeClr val="bg1"/>
                  </a:solidFill>
                </a:ln>
              </a:rPr>
              <a:t>년</a:t>
            </a:r>
            <a:r>
              <a:rPr lang="en-US" altLang="ko-KR" sz="2000" b="1" dirty="0">
                <a:ln>
                  <a:solidFill>
                    <a:schemeClr val="bg1"/>
                  </a:solidFill>
                </a:ln>
              </a:rPr>
              <a:t>, </a:t>
            </a:r>
            <a:r>
              <a:rPr lang="ko-KR" altLang="en-US" sz="2000" b="1" dirty="0">
                <a:ln>
                  <a:solidFill>
                    <a:schemeClr val="bg1"/>
                  </a:solidFill>
                </a:ln>
              </a:rPr>
              <a:t>국민 보건 향상이라는 </a:t>
            </a:r>
            <a:endParaRPr lang="en-US" altLang="ko-KR" sz="2000" b="1" dirty="0" smtClean="0">
              <a:ln>
                <a:solidFill>
                  <a:schemeClr val="bg1"/>
                </a:solidFill>
              </a:ln>
            </a:endParaRPr>
          </a:p>
          <a:p>
            <a:r>
              <a:rPr lang="ko-KR" altLang="en-US" sz="2000" b="1" dirty="0" smtClean="0">
                <a:ln>
                  <a:solidFill>
                    <a:schemeClr val="bg1"/>
                  </a:solidFill>
                </a:ln>
              </a:rPr>
              <a:t>사명에서 </a:t>
            </a:r>
            <a:r>
              <a:rPr lang="ko-KR" altLang="en-US" sz="2000" b="1" dirty="0">
                <a:ln>
                  <a:solidFill>
                    <a:schemeClr val="bg1"/>
                  </a:solidFill>
                </a:ln>
              </a:rPr>
              <a:t>출발한 백제약품은 </a:t>
            </a:r>
            <a:endParaRPr lang="en-US" altLang="ko-KR" sz="2000" b="1" dirty="0" smtClean="0">
              <a:ln>
                <a:solidFill>
                  <a:schemeClr val="bg1"/>
                </a:solidFill>
              </a:ln>
            </a:endParaRPr>
          </a:p>
          <a:p>
            <a:r>
              <a:rPr lang="ko-KR" altLang="en-US" sz="2000" b="1" dirty="0" smtClean="0">
                <a:ln>
                  <a:solidFill>
                    <a:schemeClr val="bg1"/>
                  </a:solidFill>
                </a:ln>
              </a:rPr>
              <a:t>전국 </a:t>
            </a:r>
            <a:r>
              <a:rPr lang="ko-KR" altLang="en-US" sz="2000" b="1" dirty="0">
                <a:ln>
                  <a:solidFill>
                    <a:schemeClr val="bg1"/>
                  </a:solidFill>
                </a:ln>
              </a:rPr>
              <a:t>단위 유통망을 구축하며 </a:t>
            </a:r>
            <a:endParaRPr lang="en-US" altLang="ko-KR" sz="2000" b="1" dirty="0" smtClean="0">
              <a:ln>
                <a:solidFill>
                  <a:schemeClr val="bg1"/>
                </a:solidFill>
              </a:ln>
            </a:endParaRPr>
          </a:p>
          <a:p>
            <a:r>
              <a:rPr lang="ko-KR" altLang="en-US" sz="2000" b="1" dirty="0" smtClean="0">
                <a:ln>
                  <a:solidFill>
                    <a:schemeClr val="bg1"/>
                  </a:solidFill>
                </a:ln>
              </a:rPr>
              <a:t>대한민국 </a:t>
            </a:r>
            <a:r>
              <a:rPr lang="ko-KR" altLang="en-US" sz="2000" b="1" dirty="0" err="1">
                <a:ln>
                  <a:solidFill>
                    <a:schemeClr val="bg1"/>
                  </a:solidFill>
                </a:ln>
              </a:rPr>
              <a:t>헬스케어</a:t>
            </a:r>
            <a:r>
              <a:rPr lang="ko-KR" altLang="en-US" sz="2000" b="1" dirty="0">
                <a:ln>
                  <a:solidFill>
                    <a:schemeClr val="bg1"/>
                  </a:solidFill>
                </a:ln>
              </a:rPr>
              <a:t> 산업과 함께 성장해 왔습니다</a:t>
            </a:r>
            <a:r>
              <a:rPr lang="en-US" altLang="ko-KR" sz="2000" b="1" dirty="0">
                <a:ln>
                  <a:solidFill>
                    <a:schemeClr val="bg1"/>
                  </a:solidFill>
                </a:ln>
              </a:rPr>
              <a:t>.</a:t>
            </a:r>
            <a:endParaRPr lang="ko-KR" altLang="en-US" sz="2000" b="1" dirty="0">
              <a:ln>
                <a:solidFill>
                  <a:schemeClr val="bg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42430835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/>
          <p:cNvSpPr/>
          <p:nvPr/>
        </p:nvSpPr>
        <p:spPr>
          <a:xfrm>
            <a:off x="0" y="0"/>
            <a:ext cx="1503680" cy="433491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/>
              <a:t>로고</a:t>
            </a:r>
            <a:endParaRPr lang="ko-KR" altLang="en-US" sz="2000" dirty="0"/>
          </a:p>
        </p:txBody>
      </p:sp>
      <p:sp>
        <p:nvSpPr>
          <p:cNvPr id="32" name="TextBox 31"/>
          <p:cNvSpPr txBox="1"/>
          <p:nvPr/>
        </p:nvSpPr>
        <p:spPr>
          <a:xfrm>
            <a:off x="1562100" y="15240"/>
            <a:ext cx="11272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smtClean="0">
                <a:ln>
                  <a:solidFill>
                    <a:schemeClr val="bg1"/>
                  </a:solidFill>
                </a:ln>
              </a:rPr>
              <a:t>백제약품</a:t>
            </a:r>
            <a:endParaRPr lang="ko-KR" altLang="en-US" sz="20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05684" y="58176"/>
            <a:ext cx="93968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dirty="0" smtClean="0">
                <a:ln>
                  <a:solidFill>
                    <a:schemeClr val="bg1"/>
                  </a:solidFill>
                </a:ln>
              </a:rPr>
              <a:t>회사 소개</a:t>
            </a:r>
            <a:endParaRPr lang="ko-KR" altLang="en-US" sz="15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596047" y="58176"/>
            <a:ext cx="111601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dirty="0" smtClean="0">
                <a:ln>
                  <a:solidFill>
                    <a:schemeClr val="bg1"/>
                  </a:solidFill>
                </a:ln>
              </a:rPr>
              <a:t>물류 서비스</a:t>
            </a:r>
            <a:endParaRPr lang="ko-KR" altLang="en-US" sz="15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898006" y="58176"/>
            <a:ext cx="93487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 smtClean="0">
                <a:ln>
                  <a:solidFill>
                    <a:schemeClr val="bg1"/>
                  </a:solidFill>
                </a:ln>
              </a:rPr>
              <a:t>Contact</a:t>
            </a:r>
            <a:endParaRPr lang="ko-KR" altLang="en-US" sz="15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0" y="579120"/>
            <a:ext cx="12192000" cy="6278880"/>
          </a:xfrm>
          <a:prstGeom prst="roundRect">
            <a:avLst>
              <a:gd name="adj" fmla="val 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/>
              <a:t>백제약품 사진</a:t>
            </a:r>
            <a:endParaRPr lang="ko-KR" altLang="en-US" sz="2000" dirty="0"/>
          </a:p>
        </p:txBody>
      </p:sp>
      <p:sp>
        <p:nvSpPr>
          <p:cNvPr id="16" name="TextBox 15"/>
          <p:cNvSpPr txBox="1"/>
          <p:nvPr/>
        </p:nvSpPr>
        <p:spPr>
          <a:xfrm>
            <a:off x="126084" y="3056840"/>
            <a:ext cx="530626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ln>
                  <a:solidFill>
                    <a:schemeClr val="bg1"/>
                  </a:solidFill>
                </a:ln>
              </a:rPr>
              <a:t>1946</a:t>
            </a:r>
            <a:r>
              <a:rPr lang="ko-KR" altLang="en-US" sz="2000" b="1" dirty="0">
                <a:ln>
                  <a:solidFill>
                    <a:schemeClr val="bg1"/>
                  </a:solidFill>
                </a:ln>
              </a:rPr>
              <a:t>년</a:t>
            </a:r>
            <a:r>
              <a:rPr lang="en-US" altLang="ko-KR" sz="2000" b="1" dirty="0">
                <a:ln>
                  <a:solidFill>
                    <a:schemeClr val="bg1"/>
                  </a:solidFill>
                </a:ln>
              </a:rPr>
              <a:t>, </a:t>
            </a:r>
            <a:r>
              <a:rPr lang="ko-KR" altLang="en-US" sz="2000" b="1" dirty="0">
                <a:ln>
                  <a:solidFill>
                    <a:schemeClr val="bg1"/>
                  </a:solidFill>
                </a:ln>
              </a:rPr>
              <a:t>국민 보건 향상이라는 </a:t>
            </a:r>
            <a:endParaRPr lang="en-US" altLang="ko-KR" sz="2000" b="1" dirty="0" smtClean="0">
              <a:ln>
                <a:solidFill>
                  <a:schemeClr val="bg1"/>
                </a:solidFill>
              </a:ln>
            </a:endParaRPr>
          </a:p>
          <a:p>
            <a:r>
              <a:rPr lang="ko-KR" altLang="en-US" sz="2000" b="1" dirty="0" smtClean="0">
                <a:ln>
                  <a:solidFill>
                    <a:schemeClr val="bg1"/>
                  </a:solidFill>
                </a:ln>
              </a:rPr>
              <a:t>사명에서 </a:t>
            </a:r>
            <a:r>
              <a:rPr lang="ko-KR" altLang="en-US" sz="2000" b="1" dirty="0">
                <a:ln>
                  <a:solidFill>
                    <a:schemeClr val="bg1"/>
                  </a:solidFill>
                </a:ln>
              </a:rPr>
              <a:t>출발한 백제약품은 </a:t>
            </a:r>
            <a:endParaRPr lang="en-US" altLang="ko-KR" sz="2000" b="1" dirty="0" smtClean="0">
              <a:ln>
                <a:solidFill>
                  <a:schemeClr val="bg1"/>
                </a:solidFill>
              </a:ln>
            </a:endParaRPr>
          </a:p>
          <a:p>
            <a:r>
              <a:rPr lang="ko-KR" altLang="en-US" sz="2000" b="1" dirty="0" smtClean="0">
                <a:ln>
                  <a:solidFill>
                    <a:schemeClr val="bg1"/>
                  </a:solidFill>
                </a:ln>
              </a:rPr>
              <a:t>전국 </a:t>
            </a:r>
            <a:r>
              <a:rPr lang="ko-KR" altLang="en-US" sz="2000" b="1" dirty="0">
                <a:ln>
                  <a:solidFill>
                    <a:schemeClr val="bg1"/>
                  </a:solidFill>
                </a:ln>
              </a:rPr>
              <a:t>단위 유통망을 구축하며 </a:t>
            </a:r>
            <a:endParaRPr lang="en-US" altLang="ko-KR" sz="2000" b="1" dirty="0" smtClean="0">
              <a:ln>
                <a:solidFill>
                  <a:schemeClr val="bg1"/>
                </a:solidFill>
              </a:ln>
            </a:endParaRPr>
          </a:p>
          <a:p>
            <a:r>
              <a:rPr lang="ko-KR" altLang="en-US" sz="2000" b="1" dirty="0" smtClean="0">
                <a:ln>
                  <a:solidFill>
                    <a:schemeClr val="bg1"/>
                  </a:solidFill>
                </a:ln>
              </a:rPr>
              <a:t>대한민국 </a:t>
            </a:r>
            <a:r>
              <a:rPr lang="ko-KR" altLang="en-US" sz="2000" b="1" dirty="0" err="1">
                <a:ln>
                  <a:solidFill>
                    <a:schemeClr val="bg1"/>
                  </a:solidFill>
                </a:ln>
              </a:rPr>
              <a:t>헬스케어</a:t>
            </a:r>
            <a:r>
              <a:rPr lang="ko-KR" altLang="en-US" sz="2000" b="1" dirty="0">
                <a:ln>
                  <a:solidFill>
                    <a:schemeClr val="bg1"/>
                  </a:solidFill>
                </a:ln>
              </a:rPr>
              <a:t> 산업과 함께 성장해 왔습니다</a:t>
            </a:r>
            <a:r>
              <a:rPr lang="en-US" altLang="ko-KR" sz="2000" b="1" dirty="0">
                <a:ln>
                  <a:solidFill>
                    <a:schemeClr val="bg1"/>
                  </a:solidFill>
                </a:ln>
              </a:rPr>
              <a:t>.</a:t>
            </a:r>
            <a:endParaRPr lang="ko-KR" altLang="en-US" sz="2000" b="1" dirty="0">
              <a:ln>
                <a:solidFill>
                  <a:schemeClr val="bg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7658630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/>
          <p:cNvSpPr/>
          <p:nvPr/>
        </p:nvSpPr>
        <p:spPr>
          <a:xfrm>
            <a:off x="0" y="0"/>
            <a:ext cx="1503680" cy="433491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/>
              <a:t>로고</a:t>
            </a:r>
            <a:endParaRPr lang="ko-KR" altLang="en-US" sz="2000" dirty="0"/>
          </a:p>
        </p:txBody>
      </p:sp>
      <p:sp>
        <p:nvSpPr>
          <p:cNvPr id="32" name="TextBox 31"/>
          <p:cNvSpPr txBox="1"/>
          <p:nvPr/>
        </p:nvSpPr>
        <p:spPr>
          <a:xfrm>
            <a:off x="1562100" y="15240"/>
            <a:ext cx="11272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smtClean="0">
                <a:ln>
                  <a:solidFill>
                    <a:schemeClr val="bg1"/>
                  </a:solidFill>
                </a:ln>
              </a:rPr>
              <a:t>백제약품</a:t>
            </a:r>
            <a:endParaRPr lang="ko-KR" altLang="en-US" sz="20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05684" y="58176"/>
            <a:ext cx="93968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dirty="0" smtClean="0">
                <a:ln>
                  <a:solidFill>
                    <a:schemeClr val="bg1"/>
                  </a:solidFill>
                </a:ln>
              </a:rPr>
              <a:t>회사 소개</a:t>
            </a:r>
            <a:endParaRPr lang="ko-KR" altLang="en-US" sz="15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596047" y="58176"/>
            <a:ext cx="111601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dirty="0" smtClean="0">
                <a:ln>
                  <a:solidFill>
                    <a:schemeClr val="bg1"/>
                  </a:solidFill>
                </a:ln>
              </a:rPr>
              <a:t>물류 서비스</a:t>
            </a:r>
            <a:endParaRPr lang="ko-KR" altLang="en-US" sz="15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898006" y="58176"/>
            <a:ext cx="93487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 smtClean="0">
                <a:ln>
                  <a:solidFill>
                    <a:schemeClr val="bg1"/>
                  </a:solidFill>
                </a:ln>
              </a:rPr>
              <a:t>Contact</a:t>
            </a:r>
            <a:endParaRPr lang="ko-KR" altLang="en-US" sz="15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568960" y="433491"/>
            <a:ext cx="4663440" cy="6038429"/>
          </a:xfrm>
          <a:prstGeom prst="roundRect">
            <a:avLst>
              <a:gd name="adj" fmla="val 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/>
              <a:t>백제약품 사진</a:t>
            </a:r>
            <a:endParaRPr lang="ko-KR" alt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5673449" y="931331"/>
            <a:ext cx="28600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b="1" dirty="0">
                <a:ln>
                  <a:solidFill>
                    <a:schemeClr val="bg1"/>
                  </a:solidFill>
                </a:ln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2020 ~ Present</a:t>
            </a:r>
            <a:endParaRPr lang="ko-KR" altLang="en-US" sz="2800" b="1" dirty="0">
              <a:ln>
                <a:solidFill>
                  <a:schemeClr val="bg1"/>
                </a:solidFill>
              </a:ln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73449" y="2285547"/>
            <a:ext cx="12089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 smtClean="0">
                <a:ln>
                  <a:solidFill>
                    <a:schemeClr val="bg1"/>
                  </a:solidFill>
                </a:ln>
              </a:rPr>
              <a:t>2024. 11</a:t>
            </a:r>
            <a:endParaRPr lang="ko-KR" altLang="en-US" sz="20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103488" y="2285547"/>
            <a:ext cx="19014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 err="1" smtClean="0">
                <a:ln>
                  <a:solidFill>
                    <a:schemeClr val="bg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에스앤비팜</a:t>
            </a:r>
            <a:r>
              <a:rPr lang="ko-KR" altLang="en-US" sz="2000" b="1" dirty="0" smtClean="0">
                <a:ln>
                  <a:solidFill>
                    <a:schemeClr val="bg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 설립</a:t>
            </a:r>
            <a:endParaRPr lang="ko-KR" altLang="en-US" sz="2000" b="1" dirty="0">
              <a:ln>
                <a:solidFill>
                  <a:schemeClr val="bg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801360" y="1454551"/>
            <a:ext cx="5755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ln>
                  <a:solidFill>
                    <a:schemeClr val="bg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미래 유통 환경으로 나아가다</a:t>
            </a:r>
          </a:p>
          <a:p>
            <a:r>
              <a:rPr lang="ko-KR" altLang="en-US" sz="1200" b="1" dirty="0">
                <a:ln>
                  <a:solidFill>
                    <a:schemeClr val="bg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첨단 물류 인프라와 스마트 </a:t>
            </a:r>
            <a:r>
              <a:rPr lang="en-US" altLang="ko-KR" sz="1200" b="1" dirty="0">
                <a:ln>
                  <a:solidFill>
                    <a:schemeClr val="bg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SCM </a:t>
            </a:r>
            <a:r>
              <a:rPr lang="ko-KR" altLang="en-US" sz="1200" b="1" dirty="0">
                <a:ln>
                  <a:solidFill>
                    <a:schemeClr val="bg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시스템을 도입하며 변화하는 시장에 대응하고 있습니다</a:t>
            </a:r>
            <a:r>
              <a:rPr lang="en-US" altLang="ko-KR" sz="1200" b="1" dirty="0">
                <a:ln>
                  <a:solidFill>
                    <a:schemeClr val="bg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1200" b="1" dirty="0">
              <a:ln>
                <a:solidFill>
                  <a:schemeClr val="bg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65740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/>
          <p:cNvSpPr/>
          <p:nvPr/>
        </p:nvSpPr>
        <p:spPr>
          <a:xfrm>
            <a:off x="0" y="0"/>
            <a:ext cx="1503680" cy="433491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/>
              <a:t>로고</a:t>
            </a:r>
            <a:endParaRPr lang="ko-KR" altLang="en-US" sz="2000" dirty="0"/>
          </a:p>
        </p:txBody>
      </p:sp>
      <p:sp>
        <p:nvSpPr>
          <p:cNvPr id="32" name="TextBox 31"/>
          <p:cNvSpPr txBox="1"/>
          <p:nvPr/>
        </p:nvSpPr>
        <p:spPr>
          <a:xfrm>
            <a:off x="1562100" y="15240"/>
            <a:ext cx="11272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smtClean="0">
                <a:ln>
                  <a:solidFill>
                    <a:schemeClr val="bg1"/>
                  </a:solidFill>
                </a:ln>
              </a:rPr>
              <a:t>백제약품</a:t>
            </a:r>
            <a:endParaRPr lang="ko-KR" altLang="en-US" sz="20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05684" y="58176"/>
            <a:ext cx="93968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dirty="0" smtClean="0">
                <a:ln>
                  <a:solidFill>
                    <a:schemeClr val="bg1"/>
                  </a:solidFill>
                </a:ln>
              </a:rPr>
              <a:t>회사 소개</a:t>
            </a:r>
            <a:endParaRPr lang="ko-KR" altLang="en-US" sz="15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596047" y="58176"/>
            <a:ext cx="111601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dirty="0" smtClean="0">
                <a:ln>
                  <a:solidFill>
                    <a:schemeClr val="bg1"/>
                  </a:solidFill>
                </a:ln>
              </a:rPr>
              <a:t>물류 서비스</a:t>
            </a:r>
            <a:endParaRPr lang="ko-KR" altLang="en-US" sz="15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898006" y="58176"/>
            <a:ext cx="93487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 smtClean="0">
                <a:ln>
                  <a:solidFill>
                    <a:schemeClr val="bg1"/>
                  </a:solidFill>
                </a:ln>
              </a:rPr>
              <a:t>Contact</a:t>
            </a:r>
            <a:endParaRPr lang="ko-KR" altLang="en-US" sz="15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568960" y="433491"/>
            <a:ext cx="4663440" cy="6038429"/>
          </a:xfrm>
          <a:prstGeom prst="roundRect">
            <a:avLst>
              <a:gd name="adj" fmla="val 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/>
              <a:t>백제약품 사진</a:t>
            </a:r>
            <a:endParaRPr lang="ko-KR" altLang="en-US" sz="2000" dirty="0"/>
          </a:p>
        </p:txBody>
      </p:sp>
      <p:sp>
        <p:nvSpPr>
          <p:cNvPr id="10" name="TextBox 9"/>
          <p:cNvSpPr txBox="1"/>
          <p:nvPr/>
        </p:nvSpPr>
        <p:spPr>
          <a:xfrm>
            <a:off x="5673449" y="2285547"/>
            <a:ext cx="12089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 smtClean="0">
                <a:ln>
                  <a:solidFill>
                    <a:schemeClr val="bg1"/>
                  </a:solidFill>
                </a:ln>
              </a:rPr>
              <a:t>2004. 11</a:t>
            </a:r>
            <a:endParaRPr lang="ko-KR" altLang="en-US" sz="20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103488" y="2285547"/>
            <a:ext cx="19014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 err="1" smtClean="0">
                <a:ln>
                  <a:solidFill>
                    <a:schemeClr val="bg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에스앤비팜</a:t>
            </a:r>
            <a:r>
              <a:rPr lang="ko-KR" altLang="en-US" sz="2000" b="1" dirty="0" smtClean="0">
                <a:ln>
                  <a:solidFill>
                    <a:schemeClr val="bg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 설립</a:t>
            </a:r>
            <a:endParaRPr lang="ko-KR" altLang="en-US" sz="2000" b="1" dirty="0">
              <a:ln>
                <a:solidFill>
                  <a:schemeClr val="bg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801360" y="1454551"/>
            <a:ext cx="51026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ln>
                  <a:solidFill>
                    <a:schemeClr val="bg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전국 유통망을 완성하다</a:t>
            </a:r>
          </a:p>
          <a:p>
            <a:r>
              <a:rPr lang="ko-KR" altLang="en-US" sz="1200" b="1" dirty="0">
                <a:ln>
                  <a:solidFill>
                    <a:schemeClr val="bg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전국 주요 권역에 지점을 구축하며 안정적인 의약품 공급 체계를 확립했습니다</a:t>
            </a:r>
            <a:r>
              <a:rPr lang="en-US" altLang="ko-KR" sz="1200" b="1" dirty="0">
                <a:ln>
                  <a:solidFill>
                    <a:schemeClr val="bg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1200" b="1" dirty="0">
              <a:ln>
                <a:solidFill>
                  <a:schemeClr val="bg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673449" y="931331"/>
            <a:ext cx="24929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smtClean="0">
                <a:ln>
                  <a:solidFill>
                    <a:schemeClr val="bg1"/>
                  </a:solidFill>
                </a:ln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2000 ~ 2010s</a:t>
            </a:r>
            <a:endParaRPr lang="ko-KR" altLang="en-US" sz="2800" b="1" dirty="0">
              <a:ln>
                <a:solidFill>
                  <a:schemeClr val="bg1"/>
                </a:solidFill>
              </a:ln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722843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/>
          <p:cNvSpPr/>
          <p:nvPr/>
        </p:nvSpPr>
        <p:spPr>
          <a:xfrm>
            <a:off x="0" y="0"/>
            <a:ext cx="1503680" cy="433491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/>
              <a:t>로고</a:t>
            </a:r>
            <a:endParaRPr lang="ko-KR" altLang="en-US" sz="2000" dirty="0"/>
          </a:p>
        </p:txBody>
      </p:sp>
      <p:sp>
        <p:nvSpPr>
          <p:cNvPr id="32" name="TextBox 31"/>
          <p:cNvSpPr txBox="1"/>
          <p:nvPr/>
        </p:nvSpPr>
        <p:spPr>
          <a:xfrm>
            <a:off x="1562100" y="15240"/>
            <a:ext cx="11272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smtClean="0">
                <a:ln>
                  <a:solidFill>
                    <a:schemeClr val="bg1"/>
                  </a:solidFill>
                </a:ln>
              </a:rPr>
              <a:t>백제약품</a:t>
            </a:r>
            <a:endParaRPr lang="ko-KR" altLang="en-US" sz="20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05684" y="58176"/>
            <a:ext cx="93968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dirty="0" smtClean="0">
                <a:ln>
                  <a:solidFill>
                    <a:schemeClr val="bg1"/>
                  </a:solidFill>
                </a:ln>
              </a:rPr>
              <a:t>회사 소개</a:t>
            </a:r>
            <a:endParaRPr lang="ko-KR" altLang="en-US" sz="15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596047" y="58176"/>
            <a:ext cx="111601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dirty="0" smtClean="0">
                <a:ln>
                  <a:solidFill>
                    <a:schemeClr val="bg1"/>
                  </a:solidFill>
                </a:ln>
              </a:rPr>
              <a:t>물류 서비스</a:t>
            </a:r>
            <a:endParaRPr lang="ko-KR" altLang="en-US" sz="15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898006" y="58176"/>
            <a:ext cx="93487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 smtClean="0">
                <a:ln>
                  <a:solidFill>
                    <a:schemeClr val="bg1"/>
                  </a:solidFill>
                </a:ln>
              </a:rPr>
              <a:t>Contact</a:t>
            </a:r>
            <a:endParaRPr lang="ko-KR" altLang="en-US" sz="15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2499360" y="3363140"/>
            <a:ext cx="2763520" cy="1868174"/>
          </a:xfrm>
          <a:prstGeom prst="roundRect">
            <a:avLst>
              <a:gd name="adj" fmla="val 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err="1" smtClean="0"/>
              <a:t>백제에치칼약품</a:t>
            </a:r>
            <a:r>
              <a:rPr lang="ko-KR" altLang="en-US" sz="2000" dirty="0" smtClean="0"/>
              <a:t> 사진</a:t>
            </a:r>
            <a:endParaRPr lang="ko-KR" altLang="en-US" sz="2000" dirty="0"/>
          </a:p>
        </p:txBody>
      </p:sp>
      <p:sp>
        <p:nvSpPr>
          <p:cNvPr id="10" name="TextBox 9"/>
          <p:cNvSpPr txBox="1"/>
          <p:nvPr/>
        </p:nvSpPr>
        <p:spPr>
          <a:xfrm>
            <a:off x="5673449" y="4297227"/>
            <a:ext cx="38202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>
                <a:ln>
                  <a:solidFill>
                    <a:schemeClr val="bg1"/>
                  </a:solidFill>
                </a:ln>
              </a:rPr>
              <a:t>종합병원 및 전문 의료기관을 위한 </a:t>
            </a:r>
            <a:endParaRPr lang="en-US" altLang="ko-KR" sz="2000" b="1" dirty="0" smtClean="0">
              <a:ln>
                <a:solidFill>
                  <a:schemeClr val="bg1"/>
                </a:solidFill>
              </a:ln>
            </a:endParaRPr>
          </a:p>
          <a:p>
            <a:r>
              <a:rPr lang="ko-KR" altLang="en-US" sz="2000" b="1" dirty="0" smtClean="0">
                <a:ln>
                  <a:solidFill>
                    <a:schemeClr val="bg1"/>
                  </a:solidFill>
                </a:ln>
              </a:rPr>
              <a:t>맞춤형 </a:t>
            </a:r>
            <a:r>
              <a:rPr lang="en-US" altLang="ko-KR" sz="2000" b="1" dirty="0">
                <a:ln>
                  <a:solidFill>
                    <a:schemeClr val="bg1"/>
                  </a:solidFill>
                </a:ln>
              </a:rPr>
              <a:t>SCM </a:t>
            </a:r>
            <a:r>
              <a:rPr lang="ko-KR" altLang="en-US" sz="2000" b="1" dirty="0">
                <a:ln>
                  <a:solidFill>
                    <a:schemeClr val="bg1"/>
                  </a:solidFill>
                </a:ln>
              </a:rPr>
              <a:t>서비스 제공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73449" y="3623731"/>
            <a:ext cx="28552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 err="1" smtClean="0">
                <a:ln>
                  <a:solidFill>
                    <a:schemeClr val="bg1"/>
                  </a:solidFill>
                </a:ln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백제에치칼약품</a:t>
            </a:r>
            <a:r>
              <a:rPr lang="ko-KR" altLang="en-US" sz="2800" b="1" dirty="0" smtClean="0">
                <a:ln>
                  <a:solidFill>
                    <a:schemeClr val="bg1"/>
                  </a:solidFill>
                </a:ln>
                <a:latin typeface="Noto Sans KR Black" panose="020B0200000000000000" pitchFamily="50" charset="-127"/>
                <a:ea typeface="Noto Sans KR Black" panose="020B0200000000000000" pitchFamily="50" charset="-127"/>
              </a:rPr>
              <a:t>㈜</a:t>
            </a:r>
            <a:endParaRPr lang="ko-KR" altLang="en-US" sz="2800" b="1" dirty="0">
              <a:ln>
                <a:solidFill>
                  <a:schemeClr val="bg1"/>
                </a:solidFill>
              </a:ln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0" y="433491"/>
            <a:ext cx="12192000" cy="2204720"/>
          </a:xfrm>
          <a:prstGeom prst="roundRect">
            <a:avLst>
              <a:gd name="adj" fmla="val 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/>
              <a:t>백제약품 사진</a:t>
            </a:r>
            <a:endParaRPr lang="ko-KR" altLang="en-US" sz="2000" dirty="0"/>
          </a:p>
        </p:txBody>
      </p:sp>
      <p:sp>
        <p:nvSpPr>
          <p:cNvPr id="16" name="TextBox 15"/>
          <p:cNvSpPr txBox="1"/>
          <p:nvPr/>
        </p:nvSpPr>
        <p:spPr>
          <a:xfrm>
            <a:off x="4270824" y="911011"/>
            <a:ext cx="3650358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b="1" dirty="0" smtClean="0">
                <a:ln>
                  <a:solidFill>
                    <a:schemeClr val="bg1"/>
                  </a:solidFill>
                </a:ln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하나의 비전으로 연결된</a:t>
            </a:r>
            <a:endParaRPr lang="en-US" altLang="ko-KR" sz="2800" b="1" dirty="0" smtClean="0">
              <a:ln>
                <a:solidFill>
                  <a:schemeClr val="bg1"/>
                </a:solidFill>
              </a:ln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r>
              <a:rPr lang="ko-KR" altLang="en-US" sz="2800" b="1" dirty="0" err="1" smtClean="0">
                <a:ln>
                  <a:solidFill>
                    <a:schemeClr val="bg1"/>
                  </a:solidFill>
                </a:ln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헬스케어</a:t>
            </a:r>
            <a:r>
              <a:rPr lang="ko-KR" altLang="en-US" sz="2800" b="1" dirty="0" smtClean="0">
                <a:ln>
                  <a:solidFill>
                    <a:schemeClr val="bg1"/>
                  </a:solidFill>
                </a:ln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그룹</a:t>
            </a:r>
            <a:endParaRPr lang="en-US" altLang="ko-KR" sz="2800" b="1" dirty="0" smtClean="0">
              <a:ln>
                <a:solidFill>
                  <a:schemeClr val="bg1"/>
                </a:solidFill>
              </a:ln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r>
              <a:rPr lang="ko-KR" altLang="en-US" sz="2800" b="1" dirty="0" smtClean="0">
                <a:ln>
                  <a:solidFill>
                    <a:schemeClr val="bg1"/>
                  </a:solidFill>
                </a:ln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백제약품</a:t>
            </a:r>
            <a:endParaRPr lang="ko-KR" altLang="en-US" sz="2800" b="1" dirty="0">
              <a:ln>
                <a:solidFill>
                  <a:schemeClr val="bg1"/>
                </a:solidFill>
              </a:ln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7" name="모서리가 둥근 직사각형 16"/>
          <p:cNvSpPr/>
          <p:nvPr/>
        </p:nvSpPr>
        <p:spPr>
          <a:xfrm>
            <a:off x="2499360" y="5805967"/>
            <a:ext cx="2763520" cy="1052033"/>
          </a:xfrm>
          <a:prstGeom prst="roundRect">
            <a:avLst>
              <a:gd name="adj" fmla="val 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/>
              <a:t>초당약품공업 사진</a:t>
            </a:r>
            <a:endParaRPr lang="ko-KR" altLang="en-US" sz="2000" dirty="0"/>
          </a:p>
        </p:txBody>
      </p:sp>
      <p:sp>
        <p:nvSpPr>
          <p:cNvPr id="19" name="TextBox 18"/>
          <p:cNvSpPr txBox="1"/>
          <p:nvPr/>
        </p:nvSpPr>
        <p:spPr>
          <a:xfrm>
            <a:off x="5673449" y="6066558"/>
            <a:ext cx="25250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 smtClean="0">
                <a:ln>
                  <a:solidFill>
                    <a:schemeClr val="bg1"/>
                  </a:solidFill>
                </a:ln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초당약품공업㈜</a:t>
            </a:r>
            <a:endParaRPr lang="ko-KR" altLang="en-US" sz="2800" b="1" dirty="0">
              <a:ln>
                <a:solidFill>
                  <a:schemeClr val="bg1"/>
                </a:solidFill>
              </a:ln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182649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/>
          <p:cNvSpPr/>
          <p:nvPr/>
        </p:nvSpPr>
        <p:spPr>
          <a:xfrm>
            <a:off x="0" y="0"/>
            <a:ext cx="1503680" cy="433491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/>
              <a:t>로고</a:t>
            </a:r>
            <a:endParaRPr lang="ko-KR" altLang="en-US" sz="2000" dirty="0"/>
          </a:p>
        </p:txBody>
      </p:sp>
      <p:sp>
        <p:nvSpPr>
          <p:cNvPr id="32" name="TextBox 31"/>
          <p:cNvSpPr txBox="1"/>
          <p:nvPr/>
        </p:nvSpPr>
        <p:spPr>
          <a:xfrm>
            <a:off x="1562100" y="15240"/>
            <a:ext cx="11272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smtClean="0">
                <a:ln>
                  <a:solidFill>
                    <a:schemeClr val="bg1"/>
                  </a:solidFill>
                </a:ln>
              </a:rPr>
              <a:t>백제약품</a:t>
            </a:r>
            <a:endParaRPr lang="ko-KR" altLang="en-US" sz="20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05684" y="58176"/>
            <a:ext cx="93968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dirty="0" smtClean="0">
                <a:ln>
                  <a:solidFill>
                    <a:schemeClr val="bg1"/>
                  </a:solidFill>
                </a:ln>
              </a:rPr>
              <a:t>회사 소개</a:t>
            </a:r>
            <a:endParaRPr lang="ko-KR" altLang="en-US" sz="15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596047" y="58176"/>
            <a:ext cx="111601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dirty="0" smtClean="0">
                <a:ln>
                  <a:solidFill>
                    <a:schemeClr val="bg1"/>
                  </a:solidFill>
                </a:ln>
              </a:rPr>
              <a:t>물류 서비스</a:t>
            </a:r>
            <a:endParaRPr lang="ko-KR" altLang="en-US" sz="15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898006" y="58176"/>
            <a:ext cx="93487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 smtClean="0">
                <a:ln>
                  <a:solidFill>
                    <a:schemeClr val="bg1"/>
                  </a:solidFill>
                </a:ln>
              </a:rPr>
              <a:t>Contact</a:t>
            </a:r>
            <a:endParaRPr lang="ko-KR" altLang="en-US" sz="15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0" y="433490"/>
            <a:ext cx="12192000" cy="6424509"/>
          </a:xfrm>
          <a:prstGeom prst="roundRect">
            <a:avLst>
              <a:gd name="adj" fmla="val 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/>
              <a:t>한국 지도</a:t>
            </a:r>
            <a:endParaRPr lang="ko-KR" altLang="en-US" sz="2000" dirty="0"/>
          </a:p>
        </p:txBody>
      </p:sp>
      <p:sp>
        <p:nvSpPr>
          <p:cNvPr id="16" name="TextBox 15"/>
          <p:cNvSpPr txBox="1"/>
          <p:nvPr/>
        </p:nvSpPr>
        <p:spPr>
          <a:xfrm>
            <a:off x="1814232" y="1927011"/>
            <a:ext cx="856356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b="1" dirty="0" smtClean="0">
                <a:ln>
                  <a:solidFill>
                    <a:schemeClr val="bg1"/>
                  </a:solidFill>
                </a:ln>
                <a:latin typeface="+mn-ea"/>
              </a:rPr>
              <a:t>대한민국 어디든</a:t>
            </a:r>
            <a:r>
              <a:rPr lang="en-US" altLang="ko-KR" sz="2000" b="1" dirty="0" smtClean="0">
                <a:ln>
                  <a:solidFill>
                    <a:schemeClr val="bg1"/>
                  </a:solidFill>
                </a:ln>
                <a:latin typeface="+mn-ea"/>
              </a:rPr>
              <a:t>, </a:t>
            </a:r>
            <a:r>
              <a:rPr lang="ko-KR" altLang="en-US" sz="2000" b="1" dirty="0" smtClean="0">
                <a:ln>
                  <a:solidFill>
                    <a:schemeClr val="bg1"/>
                  </a:solidFill>
                </a:ln>
                <a:latin typeface="+mn-ea"/>
              </a:rPr>
              <a:t>백제약품의 인프라는 고객과 가장 가까운 곳에 있습니다</a:t>
            </a:r>
            <a:r>
              <a:rPr lang="en-US" altLang="ko-KR" sz="2000" b="1" dirty="0" smtClean="0">
                <a:ln>
                  <a:solidFill>
                    <a:schemeClr val="bg1"/>
                  </a:solidFill>
                </a:ln>
                <a:latin typeface="+mn-ea"/>
              </a:rPr>
              <a:t>.</a:t>
            </a:r>
          </a:p>
          <a:p>
            <a:pPr algn="ctr"/>
            <a:r>
              <a:rPr lang="ko-KR" altLang="en-US" sz="2000" b="1" dirty="0" smtClean="0">
                <a:ln>
                  <a:solidFill>
                    <a:schemeClr val="bg1"/>
                  </a:solidFill>
                </a:ln>
                <a:latin typeface="+mn-ea"/>
              </a:rPr>
              <a:t>전국 주요 거점의 물류센터와 지점을 통해 빠르고 안정적인 서비스를 제공합니다</a:t>
            </a:r>
            <a:r>
              <a:rPr lang="en-US" altLang="ko-KR" sz="2000" b="1" dirty="0" smtClean="0">
                <a:ln>
                  <a:solidFill>
                    <a:schemeClr val="bg1"/>
                  </a:solidFill>
                </a:ln>
                <a:latin typeface="+mn-ea"/>
              </a:rPr>
              <a:t>.</a:t>
            </a:r>
            <a:endParaRPr lang="ko-KR" altLang="en-US" sz="2000" b="1" dirty="0">
              <a:ln>
                <a:solidFill>
                  <a:schemeClr val="bg1"/>
                </a:solidFill>
              </a:ln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594711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/>
          <p:cNvSpPr/>
          <p:nvPr/>
        </p:nvSpPr>
        <p:spPr>
          <a:xfrm>
            <a:off x="0" y="0"/>
            <a:ext cx="1503680" cy="433491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/>
              <a:t>로고</a:t>
            </a:r>
            <a:endParaRPr lang="ko-KR" altLang="en-US" sz="2000" dirty="0"/>
          </a:p>
        </p:txBody>
      </p:sp>
      <p:sp>
        <p:nvSpPr>
          <p:cNvPr id="32" name="TextBox 31"/>
          <p:cNvSpPr txBox="1"/>
          <p:nvPr/>
        </p:nvSpPr>
        <p:spPr>
          <a:xfrm>
            <a:off x="1562100" y="15240"/>
            <a:ext cx="11272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smtClean="0">
                <a:ln>
                  <a:solidFill>
                    <a:schemeClr val="bg1"/>
                  </a:solidFill>
                </a:ln>
              </a:rPr>
              <a:t>백제약품</a:t>
            </a:r>
            <a:endParaRPr lang="ko-KR" altLang="en-US" sz="20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05684" y="58176"/>
            <a:ext cx="93968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dirty="0" smtClean="0">
                <a:ln>
                  <a:solidFill>
                    <a:schemeClr val="bg1"/>
                  </a:solidFill>
                </a:ln>
              </a:rPr>
              <a:t>회사 소개</a:t>
            </a:r>
            <a:endParaRPr lang="ko-KR" altLang="en-US" sz="15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596047" y="58176"/>
            <a:ext cx="111601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dirty="0" smtClean="0">
                <a:ln>
                  <a:solidFill>
                    <a:schemeClr val="bg1"/>
                  </a:solidFill>
                </a:ln>
              </a:rPr>
              <a:t>물류 서비스</a:t>
            </a:r>
            <a:endParaRPr lang="ko-KR" altLang="en-US" sz="15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898006" y="58176"/>
            <a:ext cx="93487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 smtClean="0">
                <a:ln>
                  <a:solidFill>
                    <a:schemeClr val="bg1"/>
                  </a:solidFill>
                </a:ln>
              </a:rPr>
              <a:t>Contact</a:t>
            </a:r>
            <a:endParaRPr lang="ko-KR" altLang="en-US" sz="15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-1" y="433491"/>
            <a:ext cx="8727441" cy="6424508"/>
          </a:xfrm>
          <a:prstGeom prst="roundRect">
            <a:avLst>
              <a:gd name="adj" fmla="val 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/>
              <a:t>한국 지도</a:t>
            </a:r>
            <a:endParaRPr lang="ko-KR" altLang="en-US" sz="2000" dirty="0"/>
          </a:p>
        </p:txBody>
      </p:sp>
      <p:sp>
        <p:nvSpPr>
          <p:cNvPr id="16" name="TextBox 15"/>
          <p:cNvSpPr txBox="1"/>
          <p:nvPr/>
        </p:nvSpPr>
        <p:spPr>
          <a:xfrm>
            <a:off x="-57878" y="848841"/>
            <a:ext cx="856356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b="1" dirty="0" smtClean="0">
                <a:ln>
                  <a:solidFill>
                    <a:schemeClr val="bg1"/>
                  </a:solidFill>
                </a:ln>
                <a:latin typeface="+mn-ea"/>
              </a:rPr>
              <a:t>대한민국 어디든</a:t>
            </a:r>
            <a:r>
              <a:rPr lang="en-US" altLang="ko-KR" sz="2000" b="1" dirty="0" smtClean="0">
                <a:ln>
                  <a:solidFill>
                    <a:schemeClr val="bg1"/>
                  </a:solidFill>
                </a:ln>
                <a:latin typeface="+mn-ea"/>
              </a:rPr>
              <a:t>, </a:t>
            </a:r>
            <a:r>
              <a:rPr lang="ko-KR" altLang="en-US" sz="2000" b="1" dirty="0" smtClean="0">
                <a:ln>
                  <a:solidFill>
                    <a:schemeClr val="bg1"/>
                  </a:solidFill>
                </a:ln>
                <a:latin typeface="+mn-ea"/>
              </a:rPr>
              <a:t>백제약품의 인프라는 고객과 가장 가까운 곳에 있습니다</a:t>
            </a:r>
            <a:r>
              <a:rPr lang="en-US" altLang="ko-KR" sz="2000" b="1" dirty="0" smtClean="0">
                <a:ln>
                  <a:solidFill>
                    <a:schemeClr val="bg1"/>
                  </a:solidFill>
                </a:ln>
                <a:latin typeface="+mn-ea"/>
              </a:rPr>
              <a:t>.</a:t>
            </a:r>
          </a:p>
          <a:p>
            <a:pPr algn="ctr"/>
            <a:r>
              <a:rPr lang="ko-KR" altLang="en-US" sz="2000" b="1" dirty="0" smtClean="0">
                <a:ln>
                  <a:solidFill>
                    <a:schemeClr val="bg1"/>
                  </a:solidFill>
                </a:ln>
                <a:latin typeface="+mn-ea"/>
              </a:rPr>
              <a:t>전국 주요 거점의 물류센터와 지점을 통해 빠르고 안정적인 서비스를 제공합니다</a:t>
            </a:r>
            <a:r>
              <a:rPr lang="en-US" altLang="ko-KR" sz="2000" b="1" dirty="0" smtClean="0">
                <a:ln>
                  <a:solidFill>
                    <a:schemeClr val="bg1"/>
                  </a:solidFill>
                </a:ln>
                <a:latin typeface="+mn-ea"/>
              </a:rPr>
              <a:t>.</a:t>
            </a:r>
            <a:endParaRPr lang="ko-KR" altLang="en-US" sz="2000" b="1" dirty="0">
              <a:ln>
                <a:solidFill>
                  <a:schemeClr val="bg1"/>
                </a:solidFill>
              </a:ln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627894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/>
          <p:cNvSpPr/>
          <p:nvPr/>
        </p:nvSpPr>
        <p:spPr>
          <a:xfrm>
            <a:off x="0" y="0"/>
            <a:ext cx="1503680" cy="433491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/>
              <a:t>로고</a:t>
            </a:r>
            <a:endParaRPr lang="ko-KR" altLang="en-US" sz="2000" dirty="0"/>
          </a:p>
        </p:txBody>
      </p:sp>
      <p:sp>
        <p:nvSpPr>
          <p:cNvPr id="32" name="TextBox 31"/>
          <p:cNvSpPr txBox="1"/>
          <p:nvPr/>
        </p:nvSpPr>
        <p:spPr>
          <a:xfrm>
            <a:off x="1562100" y="15240"/>
            <a:ext cx="11272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smtClean="0">
                <a:ln>
                  <a:solidFill>
                    <a:schemeClr val="bg1"/>
                  </a:solidFill>
                </a:ln>
              </a:rPr>
              <a:t>백제약품</a:t>
            </a:r>
            <a:endParaRPr lang="ko-KR" altLang="en-US" sz="20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05684" y="58176"/>
            <a:ext cx="93968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dirty="0" smtClean="0">
                <a:ln>
                  <a:solidFill>
                    <a:schemeClr val="bg1"/>
                  </a:solidFill>
                </a:ln>
              </a:rPr>
              <a:t>회사 소개</a:t>
            </a:r>
            <a:endParaRPr lang="ko-KR" altLang="en-US" sz="15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596047" y="58176"/>
            <a:ext cx="111601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dirty="0" smtClean="0">
                <a:ln>
                  <a:solidFill>
                    <a:schemeClr val="bg1"/>
                  </a:solidFill>
                </a:ln>
              </a:rPr>
              <a:t>물류 서비스</a:t>
            </a:r>
            <a:endParaRPr lang="ko-KR" altLang="en-US" sz="15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898006" y="58176"/>
            <a:ext cx="93487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 smtClean="0">
                <a:ln>
                  <a:solidFill>
                    <a:schemeClr val="bg1"/>
                  </a:solidFill>
                </a:ln>
              </a:rPr>
              <a:t>Contact</a:t>
            </a:r>
            <a:endParaRPr lang="ko-KR" altLang="en-US" sz="15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-1" y="433491"/>
            <a:ext cx="5496561" cy="6424508"/>
          </a:xfrm>
          <a:prstGeom prst="roundRect">
            <a:avLst>
              <a:gd name="adj" fmla="val 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/>
              <a:t>한국 지도</a:t>
            </a:r>
            <a:r>
              <a:rPr lang="en-US" altLang="ko-KR" sz="2000" dirty="0" smtClean="0"/>
              <a:t>&amp;</a:t>
            </a:r>
            <a:r>
              <a:rPr lang="ko-KR" altLang="en-US" sz="2000" dirty="0" smtClean="0"/>
              <a:t>지점 위치 표시</a:t>
            </a:r>
            <a:endParaRPr lang="en-US" altLang="ko-KR" sz="2000" dirty="0" smtClean="0"/>
          </a:p>
          <a:p>
            <a:pPr algn="ctr"/>
            <a:r>
              <a:rPr lang="ko-KR" altLang="en-US" sz="2000" dirty="0" smtClean="0"/>
              <a:t>위치 누르면 해당 지점 설명으로 이동</a:t>
            </a:r>
            <a:endParaRPr lang="ko-KR" alt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8623964" y="1524481"/>
            <a:ext cx="10518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ln>
                  <a:solidFill>
                    <a:schemeClr val="bg1"/>
                  </a:solidFill>
                </a:ln>
              </a:rPr>
              <a:t>주소 </a:t>
            </a:r>
            <a:r>
              <a:rPr lang="en-US" altLang="ko-KR" sz="1600" b="1" dirty="0" smtClean="0">
                <a:ln>
                  <a:solidFill>
                    <a:schemeClr val="bg1"/>
                  </a:solidFill>
                </a:ln>
              </a:rPr>
              <a:t>: </a:t>
            </a:r>
          </a:p>
          <a:p>
            <a:r>
              <a:rPr lang="ko-KR" altLang="en-US" sz="1600" b="1" dirty="0" smtClean="0">
                <a:ln>
                  <a:solidFill>
                    <a:schemeClr val="bg1"/>
                  </a:solidFill>
                </a:ln>
              </a:rPr>
              <a:t>전화번호 </a:t>
            </a:r>
            <a:r>
              <a:rPr lang="en-US" altLang="ko-KR" sz="1600" b="1" dirty="0" smtClean="0">
                <a:ln>
                  <a:solidFill>
                    <a:schemeClr val="bg1"/>
                  </a:solidFill>
                </a:ln>
              </a:rPr>
              <a:t>:</a:t>
            </a:r>
            <a:endParaRPr lang="ko-KR" altLang="en-US" sz="16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23964" y="1124371"/>
            <a:ext cx="13628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 smtClean="0">
                <a:ln>
                  <a:solidFill>
                    <a:schemeClr val="bg1"/>
                  </a:solidFill>
                </a:ln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영등포지점</a:t>
            </a:r>
            <a:endParaRPr lang="ko-KR" altLang="en-US" sz="2000" b="1" dirty="0">
              <a:ln>
                <a:solidFill>
                  <a:schemeClr val="bg1"/>
                </a:solidFill>
              </a:ln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1" name="모서리가 둥근 직사각형 10"/>
          <p:cNvSpPr/>
          <p:nvPr/>
        </p:nvSpPr>
        <p:spPr>
          <a:xfrm>
            <a:off x="6584649" y="728131"/>
            <a:ext cx="1921035" cy="1781389"/>
          </a:xfrm>
          <a:prstGeom prst="roundRect">
            <a:avLst>
              <a:gd name="adj" fmla="val 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/>
              <a:t>영등포지점 지도</a:t>
            </a:r>
            <a:endParaRPr lang="ko-KR" altLang="en-US" sz="2000" dirty="0"/>
          </a:p>
        </p:txBody>
      </p:sp>
      <p:sp>
        <p:nvSpPr>
          <p:cNvPr id="12" name="TextBox 11"/>
          <p:cNvSpPr txBox="1"/>
          <p:nvPr/>
        </p:nvSpPr>
        <p:spPr>
          <a:xfrm>
            <a:off x="8623964" y="3705980"/>
            <a:ext cx="10518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ln>
                  <a:solidFill>
                    <a:schemeClr val="bg1"/>
                  </a:solidFill>
                </a:ln>
              </a:rPr>
              <a:t>주소 </a:t>
            </a:r>
            <a:r>
              <a:rPr lang="en-US" altLang="ko-KR" sz="1600" b="1" dirty="0" smtClean="0">
                <a:ln>
                  <a:solidFill>
                    <a:schemeClr val="bg1"/>
                  </a:solidFill>
                </a:ln>
              </a:rPr>
              <a:t>: </a:t>
            </a:r>
          </a:p>
          <a:p>
            <a:r>
              <a:rPr lang="ko-KR" altLang="en-US" sz="1600" b="1" dirty="0" smtClean="0">
                <a:ln>
                  <a:solidFill>
                    <a:schemeClr val="bg1"/>
                  </a:solidFill>
                </a:ln>
              </a:rPr>
              <a:t>전화번호 </a:t>
            </a:r>
            <a:r>
              <a:rPr lang="en-US" altLang="ko-KR" sz="1600" b="1" dirty="0" smtClean="0">
                <a:ln>
                  <a:solidFill>
                    <a:schemeClr val="bg1"/>
                  </a:solidFill>
                </a:ln>
              </a:rPr>
              <a:t>:</a:t>
            </a:r>
            <a:endParaRPr lang="ko-KR" altLang="en-US" sz="16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623964" y="3305870"/>
            <a:ext cx="11272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 smtClean="0">
                <a:ln>
                  <a:solidFill>
                    <a:schemeClr val="bg1"/>
                  </a:solidFill>
                </a:ln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일산지점</a:t>
            </a:r>
            <a:endParaRPr lang="ko-KR" altLang="en-US" sz="2000" b="1" dirty="0">
              <a:ln>
                <a:solidFill>
                  <a:schemeClr val="bg1"/>
                </a:solidFill>
              </a:ln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4" name="모서리가 둥근 직사각형 13"/>
          <p:cNvSpPr/>
          <p:nvPr/>
        </p:nvSpPr>
        <p:spPr>
          <a:xfrm>
            <a:off x="6584649" y="2909630"/>
            <a:ext cx="1921035" cy="1781389"/>
          </a:xfrm>
          <a:prstGeom prst="roundRect">
            <a:avLst>
              <a:gd name="adj" fmla="val 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/>
              <a:t>일산지점 지도</a:t>
            </a:r>
            <a:endParaRPr lang="ko-KR" altLang="en-US" sz="2000" dirty="0"/>
          </a:p>
        </p:txBody>
      </p:sp>
      <p:sp>
        <p:nvSpPr>
          <p:cNvPr id="17" name="TextBox 16"/>
          <p:cNvSpPr txBox="1"/>
          <p:nvPr/>
        </p:nvSpPr>
        <p:spPr>
          <a:xfrm>
            <a:off x="8623964" y="5887479"/>
            <a:ext cx="10518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ln>
                  <a:solidFill>
                    <a:schemeClr val="bg1"/>
                  </a:solidFill>
                </a:ln>
              </a:rPr>
              <a:t>주소 </a:t>
            </a:r>
            <a:r>
              <a:rPr lang="en-US" altLang="ko-KR" sz="1600" b="1" dirty="0" smtClean="0">
                <a:ln>
                  <a:solidFill>
                    <a:schemeClr val="bg1"/>
                  </a:solidFill>
                </a:ln>
              </a:rPr>
              <a:t>: </a:t>
            </a:r>
          </a:p>
          <a:p>
            <a:r>
              <a:rPr lang="ko-KR" altLang="en-US" sz="1600" b="1" dirty="0" smtClean="0">
                <a:ln>
                  <a:solidFill>
                    <a:schemeClr val="bg1"/>
                  </a:solidFill>
                </a:ln>
              </a:rPr>
              <a:t>전화번호 </a:t>
            </a:r>
            <a:r>
              <a:rPr lang="en-US" altLang="ko-KR" sz="1600" b="1" dirty="0" smtClean="0">
                <a:ln>
                  <a:solidFill>
                    <a:schemeClr val="bg1"/>
                  </a:solidFill>
                </a:ln>
              </a:rPr>
              <a:t>:</a:t>
            </a:r>
            <a:endParaRPr lang="ko-KR" altLang="en-US" sz="16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623964" y="5487369"/>
            <a:ext cx="11272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 smtClean="0">
                <a:ln>
                  <a:solidFill>
                    <a:schemeClr val="bg1"/>
                  </a:solidFill>
                </a:ln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강서지점</a:t>
            </a:r>
            <a:endParaRPr lang="ko-KR" altLang="en-US" sz="2000" b="1" dirty="0">
              <a:ln>
                <a:solidFill>
                  <a:schemeClr val="bg1"/>
                </a:solidFill>
              </a:ln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9" name="모서리가 둥근 직사각형 18"/>
          <p:cNvSpPr/>
          <p:nvPr/>
        </p:nvSpPr>
        <p:spPr>
          <a:xfrm>
            <a:off x="6584649" y="5091129"/>
            <a:ext cx="1921035" cy="1781389"/>
          </a:xfrm>
          <a:prstGeom prst="roundRect">
            <a:avLst>
              <a:gd name="adj" fmla="val 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/>
              <a:t>강서지점 지도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0220502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/>
          <p:cNvSpPr/>
          <p:nvPr/>
        </p:nvSpPr>
        <p:spPr>
          <a:xfrm>
            <a:off x="0" y="0"/>
            <a:ext cx="1503680" cy="433491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/>
              <a:t>로고</a:t>
            </a:r>
            <a:endParaRPr lang="ko-KR" altLang="en-US" sz="2000" dirty="0"/>
          </a:p>
        </p:txBody>
      </p:sp>
      <p:sp>
        <p:nvSpPr>
          <p:cNvPr id="32" name="TextBox 31"/>
          <p:cNvSpPr txBox="1"/>
          <p:nvPr/>
        </p:nvSpPr>
        <p:spPr>
          <a:xfrm>
            <a:off x="1562100" y="15240"/>
            <a:ext cx="11272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smtClean="0">
                <a:ln>
                  <a:solidFill>
                    <a:schemeClr val="bg1"/>
                  </a:solidFill>
                </a:ln>
              </a:rPr>
              <a:t>백제약품</a:t>
            </a:r>
            <a:endParaRPr lang="ko-KR" altLang="en-US" sz="20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05684" y="58176"/>
            <a:ext cx="93968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dirty="0" smtClean="0">
                <a:ln>
                  <a:solidFill>
                    <a:schemeClr val="bg1"/>
                  </a:solidFill>
                </a:ln>
              </a:rPr>
              <a:t>회사 소개</a:t>
            </a:r>
            <a:endParaRPr lang="ko-KR" altLang="en-US" sz="15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596047" y="58176"/>
            <a:ext cx="111601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dirty="0" smtClean="0">
                <a:ln>
                  <a:solidFill>
                    <a:schemeClr val="bg1"/>
                  </a:solidFill>
                </a:ln>
              </a:rPr>
              <a:t>물류 서비스</a:t>
            </a:r>
            <a:endParaRPr lang="ko-KR" altLang="en-US" sz="15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898006" y="58176"/>
            <a:ext cx="93487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 smtClean="0">
                <a:ln>
                  <a:solidFill>
                    <a:schemeClr val="bg1"/>
                  </a:solidFill>
                </a:ln>
              </a:rPr>
              <a:t>Contact</a:t>
            </a:r>
            <a:endParaRPr lang="ko-KR" altLang="en-US" sz="15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3048000" y="2511282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ko-KR" altLang="en-US" dirty="0"/>
              <a:t>배송에서 운영까지</a:t>
            </a:r>
            <a:r>
              <a:rPr lang="en-US" altLang="ko-KR" dirty="0"/>
              <a:t>, </a:t>
            </a:r>
            <a:r>
              <a:rPr lang="ko-KR" altLang="en-US" dirty="0"/>
              <a:t>유통에서 플랫폼으로</a:t>
            </a:r>
            <a:br>
              <a:rPr lang="ko-KR" altLang="en-US" dirty="0"/>
            </a:br>
            <a:r>
              <a:rPr lang="ko-KR" altLang="en-US" dirty="0"/>
              <a:t>백제약품은 의약품 유통 전 과정을 하나의 서비스로 연결합니다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208917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/>
          <p:cNvSpPr/>
          <p:nvPr/>
        </p:nvSpPr>
        <p:spPr>
          <a:xfrm>
            <a:off x="0" y="0"/>
            <a:ext cx="1503680" cy="433491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/>
              <a:t>로고</a:t>
            </a:r>
            <a:endParaRPr lang="ko-KR" altLang="en-US" sz="2000" dirty="0"/>
          </a:p>
        </p:txBody>
      </p:sp>
      <p:sp>
        <p:nvSpPr>
          <p:cNvPr id="32" name="TextBox 31"/>
          <p:cNvSpPr txBox="1"/>
          <p:nvPr/>
        </p:nvSpPr>
        <p:spPr>
          <a:xfrm>
            <a:off x="1562100" y="15240"/>
            <a:ext cx="11272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smtClean="0">
                <a:ln>
                  <a:solidFill>
                    <a:schemeClr val="bg1"/>
                  </a:solidFill>
                </a:ln>
              </a:rPr>
              <a:t>백제약품</a:t>
            </a:r>
            <a:endParaRPr lang="ko-KR" altLang="en-US" sz="20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05684" y="58176"/>
            <a:ext cx="93968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dirty="0" smtClean="0">
                <a:ln>
                  <a:solidFill>
                    <a:schemeClr val="bg1"/>
                  </a:solidFill>
                </a:ln>
              </a:rPr>
              <a:t>회사 소개</a:t>
            </a:r>
            <a:endParaRPr lang="ko-KR" altLang="en-US" sz="15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596047" y="58176"/>
            <a:ext cx="111601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dirty="0" smtClean="0">
                <a:ln>
                  <a:solidFill>
                    <a:schemeClr val="bg1"/>
                  </a:solidFill>
                </a:ln>
              </a:rPr>
              <a:t>물류 서비스</a:t>
            </a:r>
            <a:endParaRPr lang="ko-KR" altLang="en-US" sz="15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898006" y="58176"/>
            <a:ext cx="93487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 smtClean="0">
                <a:ln>
                  <a:solidFill>
                    <a:schemeClr val="bg1"/>
                  </a:solidFill>
                </a:ln>
              </a:rPr>
              <a:t>Contact</a:t>
            </a:r>
            <a:endParaRPr lang="ko-KR" altLang="en-US" sz="15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3048000" y="103319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ko-KR" altLang="en-US" dirty="0"/>
              <a:t>배송에서 운영까지</a:t>
            </a:r>
            <a:r>
              <a:rPr lang="en-US" altLang="ko-KR" dirty="0"/>
              <a:t>, </a:t>
            </a:r>
            <a:r>
              <a:rPr lang="ko-KR" altLang="en-US" dirty="0"/>
              <a:t>유통에서 플랫폼으로</a:t>
            </a:r>
            <a:br>
              <a:rPr lang="ko-KR" altLang="en-US" dirty="0"/>
            </a:br>
            <a:r>
              <a:rPr lang="ko-KR" altLang="en-US" dirty="0"/>
              <a:t>백제약품은 의약품 유통 전 과정을 하나의 서비스로 연결합니다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8" name="모서리가 둥근 직사각형 7"/>
          <p:cNvSpPr/>
          <p:nvPr/>
        </p:nvSpPr>
        <p:spPr>
          <a:xfrm>
            <a:off x="-1" y="2331379"/>
            <a:ext cx="12192001" cy="4526619"/>
          </a:xfrm>
          <a:prstGeom prst="roundRect">
            <a:avLst>
              <a:gd name="adj" fmla="val 0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24604" y="4046561"/>
            <a:ext cx="488146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 smtClean="0">
                <a:ln>
                  <a:solidFill>
                    <a:schemeClr val="bg1"/>
                  </a:solidFill>
                </a:ln>
              </a:rPr>
              <a:t>대한민국 </a:t>
            </a:r>
            <a:r>
              <a:rPr lang="ko-KR" altLang="en-US" sz="1600" b="1" dirty="0">
                <a:ln>
                  <a:solidFill>
                    <a:schemeClr val="bg1"/>
                  </a:solidFill>
                </a:ln>
              </a:rPr>
              <a:t>어디든 연결되는 의약품 유통 솔루션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 smtClean="0">
                <a:ln>
                  <a:solidFill>
                    <a:schemeClr val="bg1"/>
                  </a:solidFill>
                </a:ln>
              </a:rPr>
              <a:t>전국을 </a:t>
            </a:r>
            <a:r>
              <a:rPr lang="ko-KR" altLang="en-US" sz="1600" b="1" dirty="0">
                <a:ln>
                  <a:solidFill>
                    <a:schemeClr val="bg1"/>
                  </a:solidFill>
                </a:ln>
              </a:rPr>
              <a:t>연결하는 안정적인 유통 네트워크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 smtClean="0">
                <a:ln>
                  <a:solidFill>
                    <a:schemeClr val="bg1"/>
                  </a:solidFill>
                </a:ln>
              </a:rPr>
              <a:t>온도 </a:t>
            </a:r>
            <a:r>
              <a:rPr lang="ko-KR" altLang="en-US" sz="1600" b="1" dirty="0">
                <a:ln>
                  <a:solidFill>
                    <a:schemeClr val="bg1"/>
                  </a:solidFill>
                </a:ln>
              </a:rPr>
              <a:t>관리가 중요한 의약품을 위한 콜드체인 시스템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 smtClean="0">
                <a:ln>
                  <a:solidFill>
                    <a:schemeClr val="bg1"/>
                  </a:solidFill>
                </a:ln>
              </a:rPr>
              <a:t>시스템 </a:t>
            </a:r>
            <a:r>
              <a:rPr lang="ko-KR" altLang="en-US" sz="1600" b="1" dirty="0">
                <a:ln>
                  <a:solidFill>
                    <a:schemeClr val="bg1"/>
                  </a:solidFill>
                </a:ln>
              </a:rPr>
              <a:t>기반 운영과 </a:t>
            </a:r>
            <a:r>
              <a:rPr lang="en-US" altLang="ko-KR" sz="1600" b="1" dirty="0">
                <a:ln>
                  <a:solidFill>
                    <a:schemeClr val="bg1"/>
                  </a:solidFill>
                </a:ln>
              </a:rPr>
              <a:t>KGSP </a:t>
            </a:r>
            <a:r>
              <a:rPr lang="ko-KR" altLang="en-US" sz="1600" b="1" dirty="0">
                <a:ln>
                  <a:solidFill>
                    <a:schemeClr val="bg1"/>
                  </a:solidFill>
                </a:ln>
              </a:rPr>
              <a:t>기준 준수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4604" y="3135109"/>
            <a:ext cx="26677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 smtClean="0">
                <a:ln>
                  <a:solidFill>
                    <a:schemeClr val="bg1"/>
                  </a:solidFill>
                </a:ln>
                <a:latin typeface="Noto Sans KR Black" panose="020B0200000000000000" pitchFamily="50" charset="-127"/>
                <a:ea typeface="Noto Sans KR Black" panose="020B0200000000000000" pitchFamily="50" charset="-127"/>
              </a:rPr>
              <a:t>[1] </a:t>
            </a:r>
            <a:r>
              <a:rPr lang="ko-KR" altLang="en-US" sz="2000" b="1" dirty="0" smtClean="0">
                <a:ln>
                  <a:solidFill>
                    <a:schemeClr val="bg1"/>
                  </a:solidFill>
                </a:ln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약국 및 </a:t>
            </a:r>
            <a:r>
              <a:rPr lang="ko-KR" altLang="en-US" sz="2000" b="1" dirty="0" err="1" smtClean="0">
                <a:ln>
                  <a:solidFill>
                    <a:schemeClr val="bg1"/>
                  </a:solidFill>
                </a:ln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병의원</a:t>
            </a:r>
            <a:r>
              <a:rPr lang="ko-KR" altLang="en-US" sz="2000" b="1" dirty="0" smtClean="0">
                <a:ln>
                  <a:solidFill>
                    <a:schemeClr val="bg1"/>
                  </a:solidFill>
                </a:ln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배송</a:t>
            </a:r>
            <a:endParaRPr lang="ko-KR" altLang="en-US" sz="2000" b="1" dirty="0">
              <a:ln>
                <a:solidFill>
                  <a:schemeClr val="bg1"/>
                </a:solidFill>
              </a:ln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426720" y="2738869"/>
            <a:ext cx="5579605" cy="3631451"/>
          </a:xfrm>
          <a:prstGeom prst="roundRect">
            <a:avLst>
              <a:gd name="adj" fmla="val 5456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/>
              <a:t>약국</a:t>
            </a:r>
            <a:r>
              <a:rPr lang="en-US" altLang="ko-KR" sz="2000" dirty="0" smtClean="0"/>
              <a:t>&amp;</a:t>
            </a:r>
            <a:r>
              <a:rPr lang="ko-KR" altLang="en-US" sz="2000" dirty="0" err="1" smtClean="0"/>
              <a:t>병의원</a:t>
            </a:r>
            <a:r>
              <a:rPr lang="ko-KR" altLang="en-US" sz="2000" dirty="0" smtClean="0"/>
              <a:t> 배송 관련 사진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5277656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/>
          <p:cNvSpPr/>
          <p:nvPr/>
        </p:nvSpPr>
        <p:spPr>
          <a:xfrm>
            <a:off x="0" y="0"/>
            <a:ext cx="1503680" cy="433491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/>
              <a:t>로고</a:t>
            </a:r>
            <a:endParaRPr lang="ko-KR" altLang="en-US" sz="2000" dirty="0"/>
          </a:p>
        </p:txBody>
      </p:sp>
      <p:sp>
        <p:nvSpPr>
          <p:cNvPr id="32" name="TextBox 31"/>
          <p:cNvSpPr txBox="1"/>
          <p:nvPr/>
        </p:nvSpPr>
        <p:spPr>
          <a:xfrm>
            <a:off x="1562100" y="15240"/>
            <a:ext cx="11272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smtClean="0">
                <a:ln>
                  <a:solidFill>
                    <a:schemeClr val="bg1"/>
                  </a:solidFill>
                </a:ln>
              </a:rPr>
              <a:t>백제약품</a:t>
            </a:r>
            <a:endParaRPr lang="ko-KR" altLang="en-US" sz="20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05684" y="58176"/>
            <a:ext cx="93968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dirty="0" smtClean="0">
                <a:ln>
                  <a:solidFill>
                    <a:schemeClr val="bg1"/>
                  </a:solidFill>
                </a:ln>
              </a:rPr>
              <a:t>회사 소개</a:t>
            </a:r>
            <a:endParaRPr lang="ko-KR" altLang="en-US" sz="15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596047" y="58176"/>
            <a:ext cx="111601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dirty="0" smtClean="0">
                <a:ln>
                  <a:solidFill>
                    <a:schemeClr val="bg1"/>
                  </a:solidFill>
                </a:ln>
              </a:rPr>
              <a:t>물류 서비스</a:t>
            </a:r>
            <a:endParaRPr lang="ko-KR" altLang="en-US" sz="15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898006" y="58176"/>
            <a:ext cx="93487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 smtClean="0">
                <a:ln>
                  <a:solidFill>
                    <a:schemeClr val="bg1"/>
                  </a:solidFill>
                </a:ln>
              </a:rPr>
              <a:t>Contact</a:t>
            </a:r>
            <a:endParaRPr lang="ko-KR" altLang="en-US" sz="15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-1" y="433491"/>
            <a:ext cx="12192001" cy="4526619"/>
          </a:xfrm>
          <a:prstGeom prst="roundRect">
            <a:avLst>
              <a:gd name="adj" fmla="val 0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24604" y="2042790"/>
            <a:ext cx="488146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 smtClean="0">
                <a:ln>
                  <a:solidFill>
                    <a:schemeClr val="bg1"/>
                  </a:solidFill>
                </a:ln>
              </a:rPr>
              <a:t>대한민국 </a:t>
            </a:r>
            <a:r>
              <a:rPr lang="ko-KR" altLang="en-US" sz="1600" b="1" dirty="0">
                <a:ln>
                  <a:solidFill>
                    <a:schemeClr val="bg1"/>
                  </a:solidFill>
                </a:ln>
              </a:rPr>
              <a:t>어디든 연결되는 의약품 유통 솔루션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 smtClean="0">
                <a:ln>
                  <a:solidFill>
                    <a:schemeClr val="bg1"/>
                  </a:solidFill>
                </a:ln>
              </a:rPr>
              <a:t>전국을 </a:t>
            </a:r>
            <a:r>
              <a:rPr lang="ko-KR" altLang="en-US" sz="1600" b="1" dirty="0">
                <a:ln>
                  <a:solidFill>
                    <a:schemeClr val="bg1"/>
                  </a:solidFill>
                </a:ln>
              </a:rPr>
              <a:t>연결하는 안정적인 유통 네트워크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 smtClean="0">
                <a:ln>
                  <a:solidFill>
                    <a:schemeClr val="bg1"/>
                  </a:solidFill>
                </a:ln>
              </a:rPr>
              <a:t>온도 </a:t>
            </a:r>
            <a:r>
              <a:rPr lang="ko-KR" altLang="en-US" sz="1600" b="1" dirty="0">
                <a:ln>
                  <a:solidFill>
                    <a:schemeClr val="bg1"/>
                  </a:solidFill>
                </a:ln>
              </a:rPr>
              <a:t>관리가 중요한 의약품을 위한 콜드체인 시스템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 smtClean="0">
                <a:ln>
                  <a:solidFill>
                    <a:schemeClr val="bg1"/>
                  </a:solidFill>
                </a:ln>
              </a:rPr>
              <a:t>시스템 </a:t>
            </a:r>
            <a:r>
              <a:rPr lang="ko-KR" altLang="en-US" sz="1600" b="1" dirty="0">
                <a:ln>
                  <a:solidFill>
                    <a:schemeClr val="bg1"/>
                  </a:solidFill>
                </a:ln>
              </a:rPr>
              <a:t>기반 운영과 </a:t>
            </a:r>
            <a:r>
              <a:rPr lang="en-US" altLang="ko-KR" sz="1600" b="1" dirty="0">
                <a:ln>
                  <a:solidFill>
                    <a:schemeClr val="bg1"/>
                  </a:solidFill>
                </a:ln>
              </a:rPr>
              <a:t>KGSP </a:t>
            </a:r>
            <a:r>
              <a:rPr lang="ko-KR" altLang="en-US" sz="1600" b="1" dirty="0">
                <a:ln>
                  <a:solidFill>
                    <a:schemeClr val="bg1"/>
                  </a:solidFill>
                </a:ln>
              </a:rPr>
              <a:t>기준 준수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4604" y="1237221"/>
            <a:ext cx="26677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 smtClean="0">
                <a:ln>
                  <a:solidFill>
                    <a:schemeClr val="bg1"/>
                  </a:solidFill>
                </a:ln>
                <a:latin typeface="Noto Sans KR Black" panose="020B0200000000000000" pitchFamily="50" charset="-127"/>
                <a:ea typeface="Noto Sans KR Black" panose="020B0200000000000000" pitchFamily="50" charset="-127"/>
              </a:rPr>
              <a:t>[1] </a:t>
            </a:r>
            <a:r>
              <a:rPr lang="ko-KR" altLang="en-US" sz="2000" b="1" dirty="0" smtClean="0">
                <a:ln>
                  <a:solidFill>
                    <a:schemeClr val="bg1"/>
                  </a:solidFill>
                </a:ln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약국 및 </a:t>
            </a:r>
            <a:r>
              <a:rPr lang="ko-KR" altLang="en-US" sz="2000" b="1" dirty="0" err="1" smtClean="0">
                <a:ln>
                  <a:solidFill>
                    <a:schemeClr val="bg1"/>
                  </a:solidFill>
                </a:ln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병의원</a:t>
            </a:r>
            <a:r>
              <a:rPr lang="ko-KR" altLang="en-US" sz="2000" b="1" dirty="0" smtClean="0">
                <a:ln>
                  <a:solidFill>
                    <a:schemeClr val="bg1"/>
                  </a:solidFill>
                </a:ln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배송</a:t>
            </a:r>
            <a:endParaRPr lang="ko-KR" altLang="en-US" sz="2000" b="1" dirty="0">
              <a:ln>
                <a:solidFill>
                  <a:schemeClr val="bg1"/>
                </a:solidFill>
              </a:ln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426720" y="840981"/>
            <a:ext cx="5579605" cy="3631451"/>
          </a:xfrm>
          <a:prstGeom prst="roundRect">
            <a:avLst>
              <a:gd name="adj" fmla="val 5456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/>
              <a:t>약국</a:t>
            </a:r>
            <a:r>
              <a:rPr lang="en-US" altLang="ko-KR" sz="2000" dirty="0" smtClean="0"/>
              <a:t>&amp;</a:t>
            </a:r>
            <a:r>
              <a:rPr lang="ko-KR" altLang="en-US" sz="2000" dirty="0" err="1" smtClean="0"/>
              <a:t>병의원</a:t>
            </a:r>
            <a:r>
              <a:rPr lang="ko-KR" altLang="en-US" sz="2000" dirty="0" smtClean="0"/>
              <a:t> 배송 관련 사진</a:t>
            </a:r>
            <a:endParaRPr lang="ko-KR" altLang="en-US" sz="2000" dirty="0"/>
          </a:p>
        </p:txBody>
      </p:sp>
      <p:sp>
        <p:nvSpPr>
          <p:cNvPr id="13" name="모서리가 둥근 직사각형 12"/>
          <p:cNvSpPr/>
          <p:nvPr/>
        </p:nvSpPr>
        <p:spPr>
          <a:xfrm>
            <a:off x="-1" y="4956313"/>
            <a:ext cx="12192001" cy="1901687"/>
          </a:xfrm>
          <a:prstGeom prst="roundRect">
            <a:avLst>
              <a:gd name="adj" fmla="val 0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124604" y="6565612"/>
            <a:ext cx="35750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>
                <a:ln>
                  <a:solidFill>
                    <a:schemeClr val="bg1"/>
                  </a:solidFill>
                </a:ln>
              </a:rPr>
              <a:t>정확한 검수를 기반으로 한 입고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4604" y="5760043"/>
            <a:ext cx="18421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 smtClean="0">
                <a:ln>
                  <a:solidFill>
                    <a:schemeClr val="bg1"/>
                  </a:solidFill>
                </a:ln>
                <a:latin typeface="Noto Sans KR Black" panose="020B0200000000000000" pitchFamily="50" charset="-127"/>
                <a:ea typeface="Noto Sans KR Black" panose="020B0200000000000000" pitchFamily="50" charset="-127"/>
              </a:rPr>
              <a:t>[2] </a:t>
            </a:r>
            <a:r>
              <a:rPr lang="ko-KR" altLang="en-US" sz="2000" b="1" dirty="0">
                <a:ln>
                  <a:solidFill>
                    <a:schemeClr val="bg1"/>
                  </a:solidFill>
                </a:ln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물류 시스템</a:t>
            </a:r>
          </a:p>
        </p:txBody>
      </p:sp>
      <p:sp>
        <p:nvSpPr>
          <p:cNvPr id="16" name="모서리가 둥근 직사각형 15"/>
          <p:cNvSpPr/>
          <p:nvPr/>
        </p:nvSpPr>
        <p:spPr>
          <a:xfrm>
            <a:off x="426720" y="5363803"/>
            <a:ext cx="5579605" cy="1494197"/>
          </a:xfrm>
          <a:prstGeom prst="roundRect">
            <a:avLst>
              <a:gd name="adj" fmla="val 5456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/>
              <a:t>자동화 설비 관련 사진</a:t>
            </a:r>
            <a:endParaRPr lang="ko-KR" altLang="en-US" sz="2000" dirty="0"/>
          </a:p>
        </p:txBody>
      </p:sp>
      <p:sp>
        <p:nvSpPr>
          <p:cNvPr id="17" name="TextBox 16"/>
          <p:cNvSpPr txBox="1"/>
          <p:nvPr/>
        </p:nvSpPr>
        <p:spPr>
          <a:xfrm>
            <a:off x="6433046" y="1670198"/>
            <a:ext cx="28504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>
                <a:ln>
                  <a:solidFill>
                    <a:schemeClr val="bg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생명을 다루기에 타협하지 않습니다</a:t>
            </a:r>
            <a:r>
              <a:rPr lang="en-US" altLang="ko-KR" sz="1400" b="1" dirty="0">
                <a:ln>
                  <a:solidFill>
                    <a:schemeClr val="bg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1400" b="1" dirty="0">
              <a:ln>
                <a:solidFill>
                  <a:schemeClr val="bg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33046" y="6212710"/>
            <a:ext cx="4857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>
                <a:ln>
                  <a:solidFill>
                    <a:schemeClr val="bg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의약품 유통의 모든 과정</a:t>
            </a:r>
            <a:r>
              <a:rPr lang="en-US" altLang="ko-KR" sz="1400" b="1" dirty="0" smtClean="0">
                <a:ln>
                  <a:solidFill>
                    <a:schemeClr val="bg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,</a:t>
            </a:r>
            <a:r>
              <a:rPr lang="ko-KR" altLang="en-US" sz="1400" b="1" dirty="0" smtClean="0">
                <a:ln>
                  <a:solidFill>
                    <a:schemeClr val="bg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정확한 </a:t>
            </a:r>
            <a:r>
              <a:rPr lang="ko-KR" altLang="en-US" sz="1400" b="1" dirty="0">
                <a:ln>
                  <a:solidFill>
                    <a:schemeClr val="bg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운영으로 신뢰를 만들어갑니다</a:t>
            </a:r>
            <a:r>
              <a:rPr lang="en-US" altLang="ko-KR" sz="1400" b="1" dirty="0">
                <a:ln>
                  <a:solidFill>
                    <a:schemeClr val="bg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1400" b="1" dirty="0">
              <a:ln>
                <a:solidFill>
                  <a:schemeClr val="bg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33949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/>
          <p:cNvSpPr/>
          <p:nvPr/>
        </p:nvSpPr>
        <p:spPr>
          <a:xfrm>
            <a:off x="0" y="0"/>
            <a:ext cx="1503680" cy="433491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/>
              <a:t>로고</a:t>
            </a:r>
            <a:endParaRPr lang="ko-KR" altLang="en-US" sz="2000" dirty="0"/>
          </a:p>
        </p:txBody>
      </p:sp>
      <p:sp>
        <p:nvSpPr>
          <p:cNvPr id="32" name="TextBox 31"/>
          <p:cNvSpPr txBox="1"/>
          <p:nvPr/>
        </p:nvSpPr>
        <p:spPr>
          <a:xfrm>
            <a:off x="1562100" y="15240"/>
            <a:ext cx="11272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smtClean="0">
                <a:ln>
                  <a:solidFill>
                    <a:schemeClr val="bg1"/>
                  </a:solidFill>
                </a:ln>
              </a:rPr>
              <a:t>백제약품</a:t>
            </a:r>
            <a:endParaRPr lang="ko-KR" altLang="en-US" sz="20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05684" y="58176"/>
            <a:ext cx="93968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dirty="0" smtClean="0">
                <a:ln>
                  <a:solidFill>
                    <a:schemeClr val="bg1"/>
                  </a:solidFill>
                </a:ln>
              </a:rPr>
              <a:t>회사 소개</a:t>
            </a:r>
            <a:endParaRPr lang="ko-KR" altLang="en-US" sz="15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596047" y="58176"/>
            <a:ext cx="111601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dirty="0" smtClean="0">
                <a:ln>
                  <a:solidFill>
                    <a:schemeClr val="bg1"/>
                  </a:solidFill>
                </a:ln>
              </a:rPr>
              <a:t>물류 서비스</a:t>
            </a:r>
            <a:endParaRPr lang="ko-KR" altLang="en-US" sz="15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898006" y="58176"/>
            <a:ext cx="93487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 smtClean="0">
                <a:ln>
                  <a:solidFill>
                    <a:schemeClr val="bg1"/>
                  </a:solidFill>
                </a:ln>
              </a:rPr>
              <a:t>Contact</a:t>
            </a:r>
            <a:endParaRPr lang="ko-KR" altLang="en-US" sz="15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-1" y="433491"/>
            <a:ext cx="12192001" cy="2686517"/>
          </a:xfrm>
          <a:prstGeom prst="roundRect">
            <a:avLst>
              <a:gd name="adj" fmla="val 0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689332" y="1477978"/>
            <a:ext cx="26677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 smtClean="0">
                <a:ln>
                  <a:solidFill>
                    <a:schemeClr val="bg1"/>
                  </a:solidFill>
                </a:ln>
                <a:latin typeface="Noto Sans KR Black" panose="020B0200000000000000" pitchFamily="50" charset="-127"/>
                <a:ea typeface="Noto Sans KR Black" panose="020B0200000000000000" pitchFamily="50" charset="-127"/>
              </a:rPr>
              <a:t>[1] </a:t>
            </a:r>
            <a:r>
              <a:rPr lang="ko-KR" altLang="en-US" sz="2000" b="1" dirty="0" smtClean="0">
                <a:ln>
                  <a:solidFill>
                    <a:schemeClr val="bg1"/>
                  </a:solidFill>
                </a:ln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약국 및 </a:t>
            </a:r>
            <a:r>
              <a:rPr lang="ko-KR" altLang="en-US" sz="2000" b="1" dirty="0" err="1" smtClean="0">
                <a:ln>
                  <a:solidFill>
                    <a:schemeClr val="bg1"/>
                  </a:solidFill>
                </a:ln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병의원</a:t>
            </a:r>
            <a:r>
              <a:rPr lang="ko-KR" altLang="en-US" sz="2000" b="1" dirty="0" smtClean="0">
                <a:ln>
                  <a:solidFill>
                    <a:schemeClr val="bg1"/>
                  </a:solidFill>
                </a:ln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배송</a:t>
            </a:r>
            <a:endParaRPr lang="ko-KR" altLang="en-US" sz="2000" b="1" dirty="0">
              <a:ln>
                <a:solidFill>
                  <a:schemeClr val="bg1"/>
                </a:solidFill>
              </a:ln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426721" y="840981"/>
            <a:ext cx="1991360" cy="1516139"/>
          </a:xfrm>
          <a:prstGeom prst="roundRect">
            <a:avLst>
              <a:gd name="adj" fmla="val 5456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/>
              <a:t>약국</a:t>
            </a:r>
            <a:r>
              <a:rPr lang="en-US" altLang="ko-KR" sz="2000" dirty="0" smtClean="0"/>
              <a:t>&amp;</a:t>
            </a:r>
            <a:r>
              <a:rPr lang="ko-KR" altLang="en-US" sz="2000" dirty="0" err="1" smtClean="0"/>
              <a:t>병의원</a:t>
            </a:r>
            <a:r>
              <a:rPr lang="ko-KR" altLang="en-US" sz="2000" dirty="0" smtClean="0"/>
              <a:t> 배송 관련 사진</a:t>
            </a:r>
            <a:endParaRPr lang="ko-KR" altLang="en-US" sz="2000" dirty="0"/>
          </a:p>
        </p:txBody>
      </p:sp>
      <p:sp>
        <p:nvSpPr>
          <p:cNvPr id="13" name="모서리가 둥근 직사각형 12"/>
          <p:cNvSpPr/>
          <p:nvPr/>
        </p:nvSpPr>
        <p:spPr>
          <a:xfrm>
            <a:off x="-1" y="3120009"/>
            <a:ext cx="12192001" cy="3737992"/>
          </a:xfrm>
          <a:prstGeom prst="roundRect">
            <a:avLst>
              <a:gd name="adj" fmla="val 0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124604" y="4709617"/>
            <a:ext cx="369364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>
                <a:ln>
                  <a:solidFill>
                    <a:schemeClr val="bg1"/>
                  </a:solidFill>
                </a:ln>
              </a:rPr>
              <a:t>정확한 검수를 기반으로 한 입고 </a:t>
            </a:r>
            <a:r>
              <a:rPr lang="ko-KR" altLang="en-US" sz="1600" b="1" dirty="0" smtClean="0">
                <a:ln>
                  <a:solidFill>
                    <a:schemeClr val="bg1"/>
                  </a:solidFill>
                </a:ln>
              </a:rPr>
              <a:t>관리</a:t>
            </a:r>
            <a:endParaRPr lang="en-US" altLang="ko-KR" sz="1600" b="1" dirty="0" smtClean="0">
              <a:ln>
                <a:solidFill>
                  <a:schemeClr val="bg1"/>
                </a:solidFill>
              </a:ln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 smtClean="0">
                <a:ln>
                  <a:solidFill>
                    <a:schemeClr val="bg1"/>
                  </a:solidFill>
                </a:ln>
              </a:rPr>
              <a:t>품질 </a:t>
            </a:r>
            <a:r>
              <a:rPr lang="ko-KR" altLang="en-US" sz="1600" b="1" dirty="0">
                <a:ln>
                  <a:solidFill>
                    <a:schemeClr val="bg1"/>
                  </a:solidFill>
                </a:ln>
              </a:rPr>
              <a:t>유지를 위한 체계적인 보관 관리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 smtClean="0">
                <a:ln>
                  <a:solidFill>
                    <a:schemeClr val="bg1"/>
                  </a:solidFill>
                </a:ln>
              </a:rPr>
              <a:t>정확성과 </a:t>
            </a:r>
            <a:r>
              <a:rPr lang="ko-KR" altLang="en-US" sz="1600" b="1" dirty="0">
                <a:ln>
                  <a:solidFill>
                    <a:schemeClr val="bg1"/>
                  </a:solidFill>
                </a:ln>
              </a:rPr>
              <a:t>효율성을 고려한 </a:t>
            </a:r>
            <a:r>
              <a:rPr lang="ko-KR" altLang="en-US" sz="1600" b="1" dirty="0" err="1">
                <a:ln>
                  <a:solidFill>
                    <a:schemeClr val="bg1"/>
                  </a:solidFill>
                </a:ln>
              </a:rPr>
              <a:t>피킹</a:t>
            </a:r>
            <a:r>
              <a:rPr lang="ko-KR" altLang="en-US" sz="1600" b="1" dirty="0">
                <a:ln>
                  <a:solidFill>
                    <a:schemeClr val="bg1"/>
                  </a:solidFill>
                </a:ln>
              </a:rPr>
              <a:t> 운영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 smtClean="0">
                <a:ln>
                  <a:solidFill>
                    <a:schemeClr val="bg1"/>
                  </a:solidFill>
                </a:ln>
              </a:rPr>
              <a:t>안정적인 </a:t>
            </a:r>
            <a:r>
              <a:rPr lang="ko-KR" altLang="en-US" sz="1600" b="1" dirty="0">
                <a:ln>
                  <a:solidFill>
                    <a:schemeClr val="bg1"/>
                  </a:solidFill>
                </a:ln>
              </a:rPr>
              <a:t>배송을 위한 출고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4604" y="3904048"/>
            <a:ext cx="18421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 smtClean="0">
                <a:ln>
                  <a:solidFill>
                    <a:schemeClr val="bg1"/>
                  </a:solidFill>
                </a:ln>
                <a:latin typeface="Noto Sans KR Black" panose="020B0200000000000000" pitchFamily="50" charset="-127"/>
                <a:ea typeface="Noto Sans KR Black" panose="020B0200000000000000" pitchFamily="50" charset="-127"/>
              </a:rPr>
              <a:t>[2] </a:t>
            </a:r>
            <a:r>
              <a:rPr lang="ko-KR" altLang="en-US" sz="2000" b="1" dirty="0">
                <a:ln>
                  <a:solidFill>
                    <a:schemeClr val="bg1"/>
                  </a:solidFill>
                </a:ln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물류 시스템</a:t>
            </a:r>
          </a:p>
        </p:txBody>
      </p:sp>
      <p:sp>
        <p:nvSpPr>
          <p:cNvPr id="16" name="모서리가 둥근 직사각형 15"/>
          <p:cNvSpPr/>
          <p:nvPr/>
        </p:nvSpPr>
        <p:spPr>
          <a:xfrm>
            <a:off x="426720" y="3527499"/>
            <a:ext cx="5579605" cy="3330502"/>
          </a:xfrm>
          <a:prstGeom prst="roundRect">
            <a:avLst>
              <a:gd name="adj" fmla="val 5456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/>
              <a:t>자동화 설비 관련 사진</a:t>
            </a:r>
            <a:endParaRPr lang="ko-KR" altLang="en-US" sz="2000" dirty="0"/>
          </a:p>
        </p:txBody>
      </p:sp>
      <p:sp>
        <p:nvSpPr>
          <p:cNvPr id="17" name="TextBox 16"/>
          <p:cNvSpPr txBox="1"/>
          <p:nvPr/>
        </p:nvSpPr>
        <p:spPr>
          <a:xfrm>
            <a:off x="8728822" y="1539533"/>
            <a:ext cx="32383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ln>
                  <a:solidFill>
                    <a:schemeClr val="bg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생명을 다루기에 타협하지 않습니다</a:t>
            </a:r>
            <a:r>
              <a:rPr lang="en-US" altLang="ko-KR" sz="1600" b="1" dirty="0">
                <a:ln>
                  <a:solidFill>
                    <a:schemeClr val="bg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1600" b="1" dirty="0">
              <a:ln>
                <a:solidFill>
                  <a:schemeClr val="bg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33046" y="4356715"/>
            <a:ext cx="4857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>
                <a:ln>
                  <a:solidFill>
                    <a:schemeClr val="bg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의약품 유통의 모든 과정</a:t>
            </a:r>
            <a:r>
              <a:rPr lang="en-US" altLang="ko-KR" sz="1400" b="1" dirty="0" smtClean="0">
                <a:ln>
                  <a:solidFill>
                    <a:schemeClr val="bg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,</a:t>
            </a:r>
            <a:r>
              <a:rPr lang="ko-KR" altLang="en-US" sz="1400" b="1" dirty="0" smtClean="0">
                <a:ln>
                  <a:solidFill>
                    <a:schemeClr val="bg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정확한 </a:t>
            </a:r>
            <a:r>
              <a:rPr lang="ko-KR" altLang="en-US" sz="1400" b="1" dirty="0">
                <a:ln>
                  <a:solidFill>
                    <a:schemeClr val="bg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운영으로 신뢰를 만들어갑니다</a:t>
            </a:r>
            <a:r>
              <a:rPr lang="en-US" altLang="ko-KR" sz="1400" b="1" dirty="0">
                <a:ln>
                  <a:solidFill>
                    <a:schemeClr val="bg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1400" b="1" dirty="0">
              <a:ln>
                <a:solidFill>
                  <a:schemeClr val="bg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31665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/>
          <p:cNvSpPr/>
          <p:nvPr/>
        </p:nvSpPr>
        <p:spPr>
          <a:xfrm>
            <a:off x="0" y="0"/>
            <a:ext cx="1503680" cy="433491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/>
              <a:t>로고</a:t>
            </a:r>
            <a:endParaRPr lang="ko-KR" altLang="en-US" sz="2000" dirty="0"/>
          </a:p>
        </p:txBody>
      </p:sp>
      <p:sp>
        <p:nvSpPr>
          <p:cNvPr id="32" name="TextBox 31"/>
          <p:cNvSpPr txBox="1"/>
          <p:nvPr/>
        </p:nvSpPr>
        <p:spPr>
          <a:xfrm>
            <a:off x="1562100" y="15240"/>
            <a:ext cx="11272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smtClean="0">
                <a:ln>
                  <a:solidFill>
                    <a:schemeClr val="bg1"/>
                  </a:solidFill>
                </a:ln>
              </a:rPr>
              <a:t>백제약품</a:t>
            </a:r>
            <a:endParaRPr lang="ko-KR" altLang="en-US" sz="20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05684" y="58176"/>
            <a:ext cx="93968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dirty="0" smtClean="0">
                <a:ln>
                  <a:solidFill>
                    <a:schemeClr val="bg1"/>
                  </a:solidFill>
                </a:ln>
              </a:rPr>
              <a:t>회사 소개</a:t>
            </a:r>
            <a:endParaRPr lang="ko-KR" altLang="en-US" sz="15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596047" y="58176"/>
            <a:ext cx="111601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dirty="0" smtClean="0">
                <a:ln>
                  <a:solidFill>
                    <a:schemeClr val="bg1"/>
                  </a:solidFill>
                </a:ln>
              </a:rPr>
              <a:t>물류 서비스</a:t>
            </a:r>
            <a:endParaRPr lang="ko-KR" altLang="en-US" sz="15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898006" y="58176"/>
            <a:ext cx="93487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 smtClean="0">
                <a:ln>
                  <a:solidFill>
                    <a:schemeClr val="bg1"/>
                  </a:solidFill>
                </a:ln>
              </a:rPr>
              <a:t>Contact</a:t>
            </a:r>
            <a:endParaRPr lang="ko-KR" altLang="en-US" sz="15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-1" y="433491"/>
            <a:ext cx="12192001" cy="493009"/>
          </a:xfrm>
          <a:prstGeom prst="roundRect">
            <a:avLst>
              <a:gd name="adj" fmla="val 0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19332" y="482976"/>
            <a:ext cx="26677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 smtClean="0">
                <a:ln>
                  <a:solidFill>
                    <a:schemeClr val="bg1"/>
                  </a:solidFill>
                </a:ln>
                <a:latin typeface="Noto Sans KR Black" panose="020B0200000000000000" pitchFamily="50" charset="-127"/>
                <a:ea typeface="Noto Sans KR Black" panose="020B0200000000000000" pitchFamily="50" charset="-127"/>
              </a:rPr>
              <a:t>[1] </a:t>
            </a:r>
            <a:r>
              <a:rPr lang="ko-KR" altLang="en-US" sz="2000" b="1" dirty="0" smtClean="0">
                <a:ln>
                  <a:solidFill>
                    <a:schemeClr val="bg1"/>
                  </a:solidFill>
                </a:ln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약국 및 </a:t>
            </a:r>
            <a:r>
              <a:rPr lang="ko-KR" altLang="en-US" sz="2000" b="1" dirty="0" err="1" smtClean="0">
                <a:ln>
                  <a:solidFill>
                    <a:schemeClr val="bg1"/>
                  </a:solidFill>
                </a:ln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병의원</a:t>
            </a:r>
            <a:r>
              <a:rPr lang="ko-KR" altLang="en-US" sz="2000" b="1" dirty="0" smtClean="0">
                <a:ln>
                  <a:solidFill>
                    <a:schemeClr val="bg1"/>
                  </a:solidFill>
                </a:ln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배송</a:t>
            </a:r>
            <a:endParaRPr lang="ko-KR" altLang="en-US" sz="2000" b="1" dirty="0">
              <a:ln>
                <a:solidFill>
                  <a:schemeClr val="bg1"/>
                </a:solidFill>
              </a:ln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124604" y="2542109"/>
            <a:ext cx="369364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>
                <a:ln>
                  <a:solidFill>
                    <a:schemeClr val="bg1"/>
                  </a:solidFill>
                </a:ln>
              </a:rPr>
              <a:t>정확한 검수를 기반으로 한 입고 </a:t>
            </a:r>
            <a:r>
              <a:rPr lang="ko-KR" altLang="en-US" sz="1600" b="1" dirty="0" smtClean="0">
                <a:ln>
                  <a:solidFill>
                    <a:schemeClr val="bg1"/>
                  </a:solidFill>
                </a:ln>
              </a:rPr>
              <a:t>관리</a:t>
            </a:r>
            <a:endParaRPr lang="en-US" altLang="ko-KR" sz="1600" b="1" dirty="0" smtClean="0">
              <a:ln>
                <a:solidFill>
                  <a:schemeClr val="bg1"/>
                </a:solidFill>
              </a:ln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 smtClean="0">
                <a:ln>
                  <a:solidFill>
                    <a:schemeClr val="bg1"/>
                  </a:solidFill>
                </a:ln>
              </a:rPr>
              <a:t>품질 </a:t>
            </a:r>
            <a:r>
              <a:rPr lang="ko-KR" altLang="en-US" sz="1600" b="1" dirty="0">
                <a:ln>
                  <a:solidFill>
                    <a:schemeClr val="bg1"/>
                  </a:solidFill>
                </a:ln>
              </a:rPr>
              <a:t>유지를 위한 체계적인 보관 관리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 smtClean="0">
                <a:ln>
                  <a:solidFill>
                    <a:schemeClr val="bg1"/>
                  </a:solidFill>
                </a:ln>
              </a:rPr>
              <a:t>정확성과 </a:t>
            </a:r>
            <a:r>
              <a:rPr lang="ko-KR" altLang="en-US" sz="1600" b="1" dirty="0">
                <a:ln>
                  <a:solidFill>
                    <a:schemeClr val="bg1"/>
                  </a:solidFill>
                </a:ln>
              </a:rPr>
              <a:t>효율성을 고려한 </a:t>
            </a:r>
            <a:r>
              <a:rPr lang="ko-KR" altLang="en-US" sz="1600" b="1" dirty="0" err="1">
                <a:ln>
                  <a:solidFill>
                    <a:schemeClr val="bg1"/>
                  </a:solidFill>
                </a:ln>
              </a:rPr>
              <a:t>피킹</a:t>
            </a:r>
            <a:r>
              <a:rPr lang="ko-KR" altLang="en-US" sz="1600" b="1" dirty="0">
                <a:ln>
                  <a:solidFill>
                    <a:schemeClr val="bg1"/>
                  </a:solidFill>
                </a:ln>
              </a:rPr>
              <a:t> 운영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 smtClean="0">
                <a:ln>
                  <a:solidFill>
                    <a:schemeClr val="bg1"/>
                  </a:solidFill>
                </a:ln>
              </a:rPr>
              <a:t>안정적인 </a:t>
            </a:r>
            <a:r>
              <a:rPr lang="ko-KR" altLang="en-US" sz="1600" b="1" dirty="0">
                <a:ln>
                  <a:solidFill>
                    <a:schemeClr val="bg1"/>
                  </a:solidFill>
                </a:ln>
              </a:rPr>
              <a:t>배송을 위한 출고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4604" y="1736540"/>
            <a:ext cx="18421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 smtClean="0">
                <a:ln>
                  <a:solidFill>
                    <a:schemeClr val="bg1"/>
                  </a:solidFill>
                </a:ln>
                <a:latin typeface="Noto Sans KR Black" panose="020B0200000000000000" pitchFamily="50" charset="-127"/>
                <a:ea typeface="Noto Sans KR Black" panose="020B0200000000000000" pitchFamily="50" charset="-127"/>
              </a:rPr>
              <a:t>[2] </a:t>
            </a:r>
            <a:r>
              <a:rPr lang="ko-KR" altLang="en-US" sz="2000" b="1" dirty="0">
                <a:ln>
                  <a:solidFill>
                    <a:schemeClr val="bg1"/>
                  </a:solidFill>
                </a:ln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물류 시스템</a:t>
            </a:r>
          </a:p>
        </p:txBody>
      </p:sp>
      <p:sp>
        <p:nvSpPr>
          <p:cNvPr id="16" name="모서리가 둥근 직사각형 15"/>
          <p:cNvSpPr/>
          <p:nvPr/>
        </p:nvSpPr>
        <p:spPr>
          <a:xfrm>
            <a:off x="426720" y="1359991"/>
            <a:ext cx="5579605" cy="3330502"/>
          </a:xfrm>
          <a:prstGeom prst="roundRect">
            <a:avLst>
              <a:gd name="adj" fmla="val 5456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/>
              <a:t>자동화 설비 관련 사진</a:t>
            </a:r>
            <a:endParaRPr lang="ko-KR" altLang="en-US" sz="2000" dirty="0"/>
          </a:p>
        </p:txBody>
      </p:sp>
      <p:sp>
        <p:nvSpPr>
          <p:cNvPr id="17" name="TextBox 16"/>
          <p:cNvSpPr txBox="1"/>
          <p:nvPr/>
        </p:nvSpPr>
        <p:spPr>
          <a:xfrm>
            <a:off x="8667862" y="544532"/>
            <a:ext cx="32383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ln>
                  <a:solidFill>
                    <a:schemeClr val="bg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생명을 다루기에 타협하지 않습니다</a:t>
            </a:r>
            <a:r>
              <a:rPr lang="en-US" altLang="ko-KR" sz="1600" b="1" dirty="0">
                <a:ln>
                  <a:solidFill>
                    <a:schemeClr val="bg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1600" b="1" dirty="0">
              <a:ln>
                <a:solidFill>
                  <a:schemeClr val="bg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33046" y="2189207"/>
            <a:ext cx="4857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>
                <a:ln>
                  <a:solidFill>
                    <a:schemeClr val="bg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의약품 유통의 모든 과정</a:t>
            </a:r>
            <a:r>
              <a:rPr lang="en-US" altLang="ko-KR" sz="1400" b="1" dirty="0" smtClean="0">
                <a:ln>
                  <a:solidFill>
                    <a:schemeClr val="bg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,</a:t>
            </a:r>
            <a:r>
              <a:rPr lang="ko-KR" altLang="en-US" sz="1400" b="1" dirty="0" smtClean="0">
                <a:ln>
                  <a:solidFill>
                    <a:schemeClr val="bg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정확한 </a:t>
            </a:r>
            <a:r>
              <a:rPr lang="ko-KR" altLang="en-US" sz="1400" b="1" dirty="0">
                <a:ln>
                  <a:solidFill>
                    <a:schemeClr val="bg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운영으로 신뢰를 만들어갑니다</a:t>
            </a:r>
            <a:r>
              <a:rPr lang="en-US" altLang="ko-KR" sz="1400" b="1" dirty="0">
                <a:ln>
                  <a:solidFill>
                    <a:schemeClr val="bg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1400" b="1" dirty="0">
              <a:ln>
                <a:solidFill>
                  <a:schemeClr val="bg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모서리가 둥근 직사각형 18"/>
          <p:cNvSpPr/>
          <p:nvPr/>
        </p:nvSpPr>
        <p:spPr>
          <a:xfrm>
            <a:off x="-1" y="926500"/>
            <a:ext cx="12192001" cy="4526619"/>
          </a:xfrm>
          <a:prstGeom prst="roundRect">
            <a:avLst>
              <a:gd name="adj" fmla="val 0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-1" y="5453119"/>
            <a:ext cx="12192001" cy="1404881"/>
          </a:xfrm>
          <a:prstGeom prst="roundRect">
            <a:avLst>
              <a:gd name="adj" fmla="val 0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124604" y="6405333"/>
            <a:ext cx="16065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 smtClean="0">
                <a:ln>
                  <a:solidFill>
                    <a:schemeClr val="bg1"/>
                  </a:solidFill>
                </a:ln>
                <a:latin typeface="Noto Sans KR Black" panose="020B0200000000000000" pitchFamily="50" charset="-127"/>
                <a:ea typeface="Noto Sans KR Black" panose="020B0200000000000000" pitchFamily="50" charset="-127"/>
              </a:rPr>
              <a:t>[3] </a:t>
            </a:r>
            <a:r>
              <a:rPr lang="ko-KR" altLang="en-US" sz="2000" b="1" dirty="0" smtClean="0">
                <a:ln>
                  <a:solidFill>
                    <a:schemeClr val="bg1"/>
                  </a:solidFill>
                </a:ln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물류 운영</a:t>
            </a:r>
            <a:endParaRPr lang="ko-KR" altLang="en-US" sz="2000" b="1" dirty="0">
              <a:ln>
                <a:solidFill>
                  <a:schemeClr val="bg1"/>
                </a:solidFill>
              </a:ln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26720" y="5886610"/>
            <a:ext cx="5579605" cy="971390"/>
          </a:xfrm>
          <a:prstGeom prst="roundRect">
            <a:avLst>
              <a:gd name="adj" fmla="val 5456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7010767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/>
          <p:cNvSpPr/>
          <p:nvPr/>
        </p:nvSpPr>
        <p:spPr>
          <a:xfrm>
            <a:off x="0" y="0"/>
            <a:ext cx="1503680" cy="433491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/>
              <a:t>로고</a:t>
            </a:r>
            <a:endParaRPr lang="ko-KR" altLang="en-US" sz="2000" dirty="0"/>
          </a:p>
        </p:txBody>
      </p:sp>
      <p:sp>
        <p:nvSpPr>
          <p:cNvPr id="32" name="TextBox 31"/>
          <p:cNvSpPr txBox="1"/>
          <p:nvPr/>
        </p:nvSpPr>
        <p:spPr>
          <a:xfrm>
            <a:off x="1562100" y="15240"/>
            <a:ext cx="11272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smtClean="0">
                <a:ln>
                  <a:solidFill>
                    <a:schemeClr val="bg1"/>
                  </a:solidFill>
                </a:ln>
              </a:rPr>
              <a:t>백제약품</a:t>
            </a:r>
            <a:endParaRPr lang="ko-KR" altLang="en-US" sz="20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05684" y="58176"/>
            <a:ext cx="93968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dirty="0" smtClean="0">
                <a:ln>
                  <a:solidFill>
                    <a:schemeClr val="bg1"/>
                  </a:solidFill>
                </a:ln>
              </a:rPr>
              <a:t>회사 소개</a:t>
            </a:r>
            <a:endParaRPr lang="ko-KR" altLang="en-US" sz="15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596047" y="58176"/>
            <a:ext cx="111601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dirty="0" smtClean="0">
                <a:ln>
                  <a:solidFill>
                    <a:schemeClr val="bg1"/>
                  </a:solidFill>
                </a:ln>
              </a:rPr>
              <a:t>물류 서비스</a:t>
            </a:r>
            <a:endParaRPr lang="ko-KR" altLang="en-US" sz="15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898006" y="58176"/>
            <a:ext cx="93487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 smtClean="0">
                <a:ln>
                  <a:solidFill>
                    <a:schemeClr val="bg1"/>
                  </a:solidFill>
                </a:ln>
              </a:rPr>
              <a:t>Contact</a:t>
            </a:r>
            <a:endParaRPr lang="ko-KR" altLang="en-US" sz="15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286326" y="1169380"/>
            <a:ext cx="16193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b="1" dirty="0" smtClean="0">
                <a:ln>
                  <a:solidFill>
                    <a:schemeClr val="bg1"/>
                  </a:solidFill>
                </a:ln>
                <a:latin typeface="Noto Sans KR Black" panose="020B0200000000000000" pitchFamily="50" charset="-127"/>
                <a:ea typeface="Noto Sans KR Black" panose="020B0200000000000000" pitchFamily="50" charset="-127"/>
              </a:rPr>
              <a:t>Contact</a:t>
            </a:r>
            <a:endParaRPr lang="ko-KR" altLang="en-US" sz="2800" b="1" dirty="0">
              <a:ln>
                <a:solidFill>
                  <a:schemeClr val="bg1"/>
                </a:solidFill>
              </a:ln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3039154"/>
              </p:ext>
            </p:extLst>
          </p:nvPr>
        </p:nvGraphicFramePr>
        <p:xfrm>
          <a:off x="2032000" y="2467443"/>
          <a:ext cx="8127999" cy="28664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/>
                <a:gridCol w="2709333"/>
                <a:gridCol w="2709333"/>
              </a:tblGrid>
              <a:tr h="46965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tx1"/>
                          </a:solidFill>
                        </a:rPr>
                        <a:t>사업영역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tx1"/>
                          </a:solidFill>
                        </a:rPr>
                        <a:t>연락처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6965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tx1"/>
                          </a:solidFill>
                        </a:rPr>
                        <a:t>구매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tx1"/>
                          </a:solidFill>
                        </a:rPr>
                        <a:t>의약품 구매</a:t>
                      </a:r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dirty="0" smtClean="0">
                          <a:solidFill>
                            <a:schemeClr val="tx1"/>
                          </a:solidFill>
                        </a:rPr>
                        <a:t>약국</a:t>
                      </a:r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 smtClean="0">
                          <a:solidFill>
                            <a:schemeClr val="tx1"/>
                          </a:solidFill>
                        </a:rPr>
                        <a:t>바로가기</a:t>
                      </a:r>
                      <a:r>
                        <a:rPr lang="ko-KR" altLang="en-US" dirty="0" smtClean="0">
                          <a:solidFill>
                            <a:schemeClr val="tx1"/>
                          </a:solidFill>
                        </a:rPr>
                        <a:t> 링크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965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tx1"/>
                          </a:solidFill>
                        </a:rPr>
                        <a:t>의약품 구매</a:t>
                      </a:r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dirty="0" smtClean="0">
                          <a:solidFill>
                            <a:schemeClr val="tx1"/>
                          </a:solidFill>
                        </a:rPr>
                        <a:t>병원</a:t>
                      </a:r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855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tx1"/>
                          </a:solidFill>
                        </a:rPr>
                        <a:t>판매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tx1"/>
                          </a:solidFill>
                        </a:rPr>
                        <a:t>의약품 유통</a:t>
                      </a:r>
                      <a:r>
                        <a:rPr lang="ko-KR" altLang="en-US" baseline="0" dirty="0" smtClean="0">
                          <a:solidFill>
                            <a:schemeClr val="tx1"/>
                          </a:solidFill>
                        </a:rPr>
                        <a:t> 문의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solidFill>
                            <a:schemeClr val="tx1"/>
                          </a:solidFill>
                          <a:hlinkClick r:id="rId3"/>
                        </a:rPr>
                        <a:t>yh.seo@baekje.net</a:t>
                      </a:r>
                      <a:endParaRPr lang="en-US" altLang="ko-KR" sz="1400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400" dirty="0" smtClean="0">
                          <a:solidFill>
                            <a:schemeClr val="tx1"/>
                          </a:solidFill>
                        </a:rPr>
                        <a:t>02-2109-9592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96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tx1"/>
                          </a:solidFill>
                        </a:rPr>
                        <a:t>인사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tx1"/>
                          </a:solidFill>
                        </a:rPr>
                        <a:t>채용 문의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9650"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2032000" y="1910745"/>
            <a:ext cx="10775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 smtClean="0">
                <a:ln>
                  <a:solidFill>
                    <a:schemeClr val="bg1"/>
                  </a:solidFill>
                </a:ln>
              </a:rPr>
              <a:t>Business</a:t>
            </a:r>
            <a:endParaRPr lang="ko-KR" altLang="en-US" sz="16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032000" y="5939419"/>
            <a:ext cx="6126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 smtClean="0">
                <a:ln>
                  <a:solidFill>
                    <a:schemeClr val="bg1"/>
                  </a:solidFill>
                </a:ln>
              </a:rPr>
              <a:t>F&amp;Q</a:t>
            </a:r>
            <a:endParaRPr lang="ko-KR" altLang="en-US" sz="16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26" name="모서리가 둥근 직사각형 25"/>
          <p:cNvSpPr/>
          <p:nvPr/>
        </p:nvSpPr>
        <p:spPr>
          <a:xfrm>
            <a:off x="1149751" y="6364991"/>
            <a:ext cx="9892498" cy="493009"/>
          </a:xfrm>
          <a:prstGeom prst="roundRect">
            <a:avLst>
              <a:gd name="adj" fmla="val 0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419332" y="6426051"/>
            <a:ext cx="38555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 smtClean="0">
                <a:ln>
                  <a:solidFill>
                    <a:schemeClr val="bg1"/>
                  </a:solidFill>
                </a:ln>
                <a:latin typeface="Noto Sans KR Black" panose="020B0200000000000000" pitchFamily="50" charset="-127"/>
                <a:ea typeface="Noto Sans KR Black" panose="020B0200000000000000" pitchFamily="50" charset="-127"/>
              </a:rPr>
              <a:t>Q. </a:t>
            </a:r>
            <a:r>
              <a:rPr lang="ko-KR" altLang="en-US" sz="2000" b="1" dirty="0" smtClean="0">
                <a:ln>
                  <a:solidFill>
                    <a:schemeClr val="bg1"/>
                  </a:solidFill>
                </a:ln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의약품은 안전하게 배송되나요</a:t>
            </a:r>
            <a:r>
              <a:rPr lang="en-US" altLang="ko-KR" sz="2000" b="1" dirty="0" smtClean="0">
                <a:ln>
                  <a:solidFill>
                    <a:schemeClr val="bg1"/>
                  </a:solidFill>
                </a:ln>
                <a:latin typeface="Noto Sans KR Black" panose="020B0200000000000000" pitchFamily="50" charset="-127"/>
                <a:ea typeface="Noto Sans KR Black" panose="020B0200000000000000" pitchFamily="50" charset="-127"/>
              </a:rPr>
              <a:t>?</a:t>
            </a:r>
            <a:endParaRPr lang="ko-KR" altLang="en-US" sz="2000" b="1" dirty="0">
              <a:ln>
                <a:solidFill>
                  <a:schemeClr val="bg1"/>
                </a:solidFill>
              </a:ln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5" name="이등변 삼각형 4"/>
          <p:cNvSpPr/>
          <p:nvPr/>
        </p:nvSpPr>
        <p:spPr>
          <a:xfrm flipV="1">
            <a:off x="10712058" y="6506724"/>
            <a:ext cx="243069" cy="20954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8331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Noto Sans"/>
        <a:ea typeface="Noto Sans KR"/>
        <a:cs typeface=""/>
      </a:majorFont>
      <a:minorFont>
        <a:latin typeface="Noto Sans"/>
        <a:ea typeface="Noto Sans K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421</TotalTime>
  <Words>1375</Words>
  <Application>Microsoft Office PowerPoint</Application>
  <PresentationFormat>와이드스크린</PresentationFormat>
  <Paragraphs>468</Paragraphs>
  <Slides>37</Slides>
  <Notes>33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37</vt:i4>
      </vt:variant>
    </vt:vector>
  </HeadingPairs>
  <TitlesOfParts>
    <vt:vector size="43" baseType="lpstr">
      <vt:lpstr>Noto Sans KR</vt:lpstr>
      <vt:lpstr>Noto Sans KR Black</vt:lpstr>
      <vt:lpstr>맑은 고딕</vt:lpstr>
      <vt:lpstr>Arial</vt:lpstr>
      <vt:lpstr>Noto Sans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맹수연</dc:creator>
  <cp:lastModifiedBy>맹수연</cp:lastModifiedBy>
  <cp:revision>31</cp:revision>
  <dcterms:created xsi:type="dcterms:W3CDTF">2026-03-31T08:14:18Z</dcterms:created>
  <dcterms:modified xsi:type="dcterms:W3CDTF">2026-04-02T06:27:46Z</dcterms:modified>
</cp:coreProperties>
</file>